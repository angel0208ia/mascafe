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a4eead4fef4e7b" /><Relationship Type="http://schemas.openxmlformats.org/officeDocument/2006/relationships/extended-properties" Target="/docProps/app.xml" Id="R04aceb6c9266473e" /><Relationship Type="http://schemas.openxmlformats.org/officeDocument/2006/relationships/officeDocument" Target="/ppt/presentation.xml" Id="R27f51c6eb3644267" /></Relationships>
</file>

<file path=ppt/presentation.xml><?xml version="1.0" encoding="utf-8"?>
<p:presentation xmlns:p="http://schemas.openxmlformats.org/presentationml/2006/main">
  <p:sldMasterIdLst>
    <p:sldMasterId xmlns:r="http://schemas.openxmlformats.org/officeDocument/2006/relationships" id="2147483648" r:id="R35c18a069b7d4fdf"/>
  </p:sldMasterIdLst>
  <p:notesMasterIdLst>
    <p:notesMasterId xmlns:r="http://schemas.openxmlformats.org/officeDocument/2006/relationships" r:id="R45c2dbe5085448ac"/>
  </p:notesMasterIdLst>
  <p:sldIdLst>
    <p:sldId xmlns:r="http://schemas.openxmlformats.org/officeDocument/2006/relationships" id="256" r:id="Rcc1c7fb33ac74eb5"/>
    <p:sldId xmlns:r="http://schemas.openxmlformats.org/officeDocument/2006/relationships" id="257" r:id="Rbbe9d7e48e624b04"/>
    <p:sldId xmlns:r="http://schemas.openxmlformats.org/officeDocument/2006/relationships" id="258" r:id="R1ecef94e4a764425"/>
    <p:sldId xmlns:r="http://schemas.openxmlformats.org/officeDocument/2006/relationships" id="259" r:id="R029f549f9cce407a"/>
    <p:sldId xmlns:r="http://schemas.openxmlformats.org/officeDocument/2006/relationships" id="260" r:id="Redb3e648681847a9"/>
    <p:sldId xmlns:r="http://schemas.openxmlformats.org/officeDocument/2006/relationships" id="261" r:id="R7d8fd73fe1394b2d"/>
    <p:sldId xmlns:r="http://schemas.openxmlformats.org/officeDocument/2006/relationships" id="262" r:id="Re114fa0f0893460c"/>
    <p:sldId xmlns:r="http://schemas.openxmlformats.org/officeDocument/2006/relationships" id="263" r:id="R2f3cea6566094448"/>
    <p:sldId xmlns:r="http://schemas.openxmlformats.org/officeDocument/2006/relationships" id="264" r:id="Raa813f21284543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ecefa60e814204" /><Relationship Type="http://schemas.openxmlformats.org/officeDocument/2006/relationships/slideMaster" Target="/ppt/slideMasters/slideMaster1.xml" Id="R35c18a069b7d4fdf" /><Relationship Type="http://schemas.openxmlformats.org/officeDocument/2006/relationships/notesMaster" Target="/ppt/notesMasters/notesMaster1.xml" Id="R45c2dbe5085448ac" /><Relationship Type="http://schemas.openxmlformats.org/officeDocument/2006/relationships/presProps" Target="/ppt/presProps.xml" Id="R5c9c5283c2b2491c" /><Relationship Type="http://schemas.openxmlformats.org/officeDocument/2006/relationships/tableStyles" Target="/ppt/tableStyles.xml" Id="Rf00a2490ac85403b" /><Relationship Type="http://schemas.openxmlformats.org/officeDocument/2006/relationships/slide" Target="/ppt/slides/slide1.xml" Id="Rcc1c7fb33ac74eb5" /><Relationship Type="http://schemas.openxmlformats.org/officeDocument/2006/relationships/slide" Target="/ppt/slides/slide2.xml" Id="Rbbe9d7e48e624b04" /><Relationship Type="http://schemas.openxmlformats.org/officeDocument/2006/relationships/slide" Target="/ppt/slides/slide3.xml" Id="R1ecef94e4a764425" /><Relationship Type="http://schemas.openxmlformats.org/officeDocument/2006/relationships/slide" Target="/ppt/slides/slide4.xml" Id="R029f549f9cce407a" /><Relationship Type="http://schemas.openxmlformats.org/officeDocument/2006/relationships/slide" Target="/ppt/slides/slide5.xml" Id="Redb3e648681847a9" /><Relationship Type="http://schemas.openxmlformats.org/officeDocument/2006/relationships/slide" Target="/ppt/slides/slide6.xml" Id="R7d8fd73fe1394b2d" /><Relationship Type="http://schemas.openxmlformats.org/officeDocument/2006/relationships/slide" Target="/ppt/slides/slide7.xml" Id="Re114fa0f0893460c" /><Relationship Type="http://schemas.openxmlformats.org/officeDocument/2006/relationships/slide" Target="/ppt/slides/slide8.xml" Id="R2f3cea6566094448" /><Relationship Type="http://schemas.openxmlformats.org/officeDocument/2006/relationships/slide" Target="/ppt/slides/slide9.xml" Id="Raa813f21284543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2bd56f29b94e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ás Café">
      <a:dk1>
        <a:srgbClr val="1B1512"/>
      </a:dk1>
      <a:lt1>
        <a:srgbClr val="FFFFFF"/>
      </a:lt1>
      <a:dk2>
        <a:srgbClr val="3B2318"/>
      </a:dk2>
      <a:lt2>
        <a:srgbClr val="FAF6F0"/>
      </a:lt2>
      <a:accent1>
        <a:srgbClr val="3B2318"/>
      </a:accent1>
      <a:accent2>
        <a:srgbClr val="543326"/>
      </a:accent2>
      <a:accent3>
        <a:srgbClr val="714838"/>
      </a:accent3>
      <a:accent4>
        <a:srgbClr val="F3E9DC"/>
      </a:accent4>
      <a:accent5>
        <a:srgbClr val="DFD3C3"/>
      </a:accent5>
      <a:accent6>
        <a:srgbClr val="74675E"/>
      </a:accent6>
      <a:hlink>
        <a:srgbClr val="543326"/>
      </a:hlink>
      <a:folHlink>
        <a:srgbClr val="714838"/>
      </a:folHlink>
    </a:clrScheme>
    <a:fontScheme name="Office">
      <a:majorFont>
        <a:latin typeface="Calibri Light"/>
        <a:ea typeface="Calibri Light"/>
        <a:cs typeface="Calibri Light"/>
      </a:majorFont>
      <a:minorFont>
        <a:latin typeface="Calibri"/>
        <a:ea typeface="Calibri"/>
        <a:cs typeface="Calibri"/>
      </a:minorFont>
    </a:fontScheme>
    <a:fmtScheme name="Más Café">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82d2b8524b40d3" /><Relationship Type="http://schemas.openxmlformats.org/officeDocument/2006/relationships/notesMaster" Target="/ppt/notesMasters/notesMaster1.xml" Id="Red9f26cca5664e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e500c29f244856" /><Relationship Type="http://schemas.openxmlformats.org/officeDocument/2006/relationships/notesMaster" Target="/ppt/notesMasters/notesMaster1.xml" Id="R9f8f2c19e9564f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1cd8c375f34ce2" /><Relationship Type="http://schemas.openxmlformats.org/officeDocument/2006/relationships/notesMaster" Target="/ppt/notesMasters/notesMaster1.xml" Id="Rc3f20ac83cd649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c6d7a1d81848ad" /><Relationship Type="http://schemas.openxmlformats.org/officeDocument/2006/relationships/notesMaster" Target="/ppt/notesMasters/notesMaster1.xml" Id="R477a52e1f41e46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558739f4144c80" /><Relationship Type="http://schemas.openxmlformats.org/officeDocument/2006/relationships/notesMaster" Target="/ppt/notesMasters/notesMaster1.xml" Id="Ra923ffae43fc46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1b5b41100d4c43" /><Relationship Type="http://schemas.openxmlformats.org/officeDocument/2006/relationships/notesMaster" Target="/ppt/notesMasters/notesMaster1.xml" Id="R280af7d5543047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af5b30b8ed4e07" /><Relationship Type="http://schemas.openxmlformats.org/officeDocument/2006/relationships/notesMaster" Target="/ppt/notesMasters/notesMaster1.xml" Id="R0822f608654b45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0193d31e334c60" /><Relationship Type="http://schemas.openxmlformats.org/officeDocument/2006/relationships/notesMaster" Target="/ppt/notesMasters/notesMaster1.xml" Id="R159ac827cb464b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1aebba736e4182" /><Relationship Type="http://schemas.openxmlformats.org/officeDocument/2006/relationships/notesMaster" Target="/ppt/notesMasters/notesMaster1.xml" Id="R958ce451089343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15 segundos. Tramo 0:00 a 0:15. Total previsto: 9:15, con 45 segundos de margen hasta diez minutos.</a:t>
            </a:r>
          </a:p>
          <a:p xmlns:a="http://schemas.openxmlformats.org/drawingml/2006/main">
            <a:r>
              <a:t/>
            </a:r>
          </a:p>
          <a:p xmlns:a="http://schemas.openxmlformats.org/drawingml/2006/main">
            <a:r>
              <a:t>GUION</a:t>
            </a:r>
          </a:p>
          <a:p xmlns:a="http://schemas.openxmlformats.org/drawingml/2006/main">
            <a:r>
              <a:t>Buenas tardes. Somos el Equipo 2 y presentamos Más Café, una propuesta para organizar los pedidos de la cafetería y dar claridad al usuario hasta la entrega. La exposición dura aproximadamente nueve minutos, y después tendremos diez minutos para preguntas.</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 Tramo 0:15 a 1:15. Total previsto: 9:15, con 45 segundos de margen hasta diez minutos.</a:t>
            </a:r>
          </a:p>
          <a:p xmlns:a="http://schemas.openxmlformats.org/drawingml/2006/main">
            <a:r>
              <a:t/>
            </a:r>
          </a:p>
          <a:p xmlns:a="http://schemas.openxmlformats.org/drawingml/2006/main">
            <a:r>
              <a:t>GUION</a:t>
            </a:r>
          </a:p>
          <a:p xmlns:a="http://schemas.openxmlformats.org/drawingml/2006/main">
            <a:r>
              <a:t>El Project Charter identifica saturación, filas y concentración de personas en los horarios de mayor demanda. Para el estudiante, esto implica dedicar parte de su tiempo a esperar. Para la cafetería, implica atender varias solicitudes al mismo tiempo y explicar el avance de cada orden. El proyecto busca organizar ese proceso desde antes de que el cliente llegue al mostrador.</a:t>
            </a:r>
          </a:p>
          <a:p xmlns:a="http://schemas.openxmlformats.org/drawingml/2006/main">
            <a:r>
              <a:t/>
            </a:r>
          </a:p>
          <a:p xmlns:a="http://schemas.openxmlformats.org/drawingml/2006/main">
            <a:r>
              <a:t>No presentar minutos ahorrados ni porcentajes de reducción: el proyecto todavía necesita una medición en operación real.</a:t>
            </a:r>
          </a:p>
          <a:p xmlns:a="http://schemas.openxmlformats.org/drawingml/2006/main">
            <a:r>
              <a:t/>
            </a:r>
          </a:p>
          <a:p xmlns:a="http://schemas.openxmlformats.org/drawingml/2006/main">
            <a:r>
              <a:t>FUENTES</a:t>
            </a:r>
          </a:p>
          <a:p xmlns:a="http://schemas.openxmlformats.org/drawingml/2006/main">
            <a:r>
              <a:t>Equipo 2. (2026). Project Charter: Sistema Digital de Gestión de Pedidos y Filas en la Cafetería Universitaria [Documento académico original], resumen ejecutivo e historias de usuario HU-01 a HU-04.</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 Tramo 1:15 a 2:15. Total previsto: 9:15, con 45 segundos de margen hasta diez minutos.</a:t>
            </a:r>
          </a:p>
          <a:p xmlns:a="http://schemas.openxmlformats.org/drawingml/2006/main">
            <a:r>
              <a:t/>
            </a:r>
          </a:p>
          <a:p xmlns:a="http://schemas.openxmlformats.org/drawingml/2006/main">
            <a:r>
              <a:t>GUION</a:t>
            </a:r>
          </a:p>
          <a:p xmlns:a="http://schemas.openxmlformats.org/drawingml/2006/main">
            <a:r>
              <a:t>El respaldo disponible son las historias de usuario que el equipo incorporó al Project Charter. Los estudiantes plantean pedir antes de salir de clase. El personal necesita conocer las personalizaciones antes de confirmar. La administración contempla avisar cuando la orden esté lista. Estas necesidades guiaron el flujo de Más Café.</a:t>
            </a:r>
          </a:p>
          <a:p xmlns:a="http://schemas.openxmlformats.org/drawingml/2006/main">
            <a:r>
              <a:t/>
            </a:r>
          </a:p>
          <a:p xmlns:a="http://schemas.openxmlformats.org/drawingml/2006/main">
            <a:r>
              <a:t>ANTES DE PRESENTAR: incorporar una cita breve de entrevista u observación, con fecha y contexto, si el equipo dispone de ella. Puede incluirse como texto, sin imágenes. No atribuir hallazgos a entrevistas o pruebas que no tengan evidencia. La frase del tablero no está disponible en el material revisado, por lo que la diapositiva siguiente sintetiza el objetivo documentado.</a:t>
            </a:r>
          </a:p>
          <a:p xmlns:a="http://schemas.openxmlformats.org/drawingml/2006/main">
            <a:r>
              <a:t/>
            </a:r>
          </a:p>
          <a:p xmlns:a="http://schemas.openxmlformats.org/drawingml/2006/main">
            <a:r>
              <a:t>FUENTES</a:t>
            </a:r>
          </a:p>
          <a:p xmlns:a="http://schemas.openxmlformats.org/drawingml/2006/main">
            <a:r>
              <a:t>Equipo 2. (2026). Project Charter: Sistema Digital de Gestión de Pedidos y Filas en la Cafetería Universitaria [Documento académico original], resumen ejecutivo e historias de usuario HU-01 a HU-04.</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30 segundos. Tramo 2:15 a 2:45. Total previsto: 9:15, con 45 segundos de margen hasta diez minutos.</a:t>
            </a:r>
          </a:p>
          <a:p xmlns:a="http://schemas.openxmlformats.org/drawingml/2006/main">
            <a:r>
              <a:t/>
            </a:r>
          </a:p>
          <a:p xmlns:a="http://schemas.openxmlformats.org/drawingml/2006/main">
            <a:r>
              <a:t>GUION</a:t>
            </a:r>
          </a:p>
          <a:p xmlns:a="http://schemas.openxmlformats.org/drawingml/2006/main">
            <a:r>
              <a:t>Nuestro objetivo es facilitar los pedidos y agilizar la atención en la cafetería del campus. El usuario elige y personaliza desde su dispositivo. La cafetería mantiene el control de la preparación y el cliente recoge en el mostrador cuando su orden está lista.</a:t>
            </a:r>
          </a:p>
          <a:p xmlns:a="http://schemas.openxmlformats.org/drawingml/2006/main">
            <a:r>
              <a:t/>
            </a:r>
          </a:p>
          <a:p xmlns:a="http://schemas.openxmlformats.org/drawingml/2006/main">
            <a:r>
              <a:t>Objetivo sintetizado del Project Charter. Si el equipo cuenta con la frase exacta de su tablero, utilizarla aquí.</a:t>
            </a:r>
          </a:p>
          <a:p xmlns:a="http://schemas.openxmlformats.org/drawingml/2006/main">
            <a:r>
              <a:t/>
            </a:r>
          </a:p>
          <a:p xmlns:a="http://schemas.openxmlformats.org/drawingml/2006/main">
            <a:r>
              <a:t>FUENTES</a:t>
            </a:r>
          </a:p>
          <a:p xmlns:a="http://schemas.openxmlformats.org/drawingml/2006/main">
            <a:r>
              <a:t>Equipo 2. (2026). Project Charter: Sistema Digital de Gestión de Pedidos y Filas en la Cafetería Universitaria [Documento académico original], resumen ejecutivo e historias de usuario HU-01 a HU-04.</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120 segundos. Tramo 2:45 a 4:45. Total previsto: 9:15, con 45 segundos de margen hasta diez minutos.</a:t>
            </a:r>
          </a:p>
          <a:p xmlns:a="http://schemas.openxmlformats.org/drawingml/2006/main">
            <a:r>
              <a:t/>
            </a:r>
          </a:p>
          <a:p xmlns:a="http://schemas.openxmlformats.org/drawingml/2006/main">
            <a:r>
              <a:t>GUION</a:t>
            </a:r>
          </a:p>
          <a:p xmlns:a="http://schemas.openxmlformats.org/drawingml/2006/main">
            <a:r>
              <a:t>La solución reúne dos experiencias. El cliente abre la app desde su celular o navegador, consulta el menú y elige las opciones del producto. Antes de confirmar, revisa sus artículos y el total. Puede generar el pedido cuando está dentro del campus y la cafetería está abierta. Después recibe un número y consulta el avance. Del otro lado, el personal recibe una orden legible, con sus opciones y notas, y cambia el estado conforme la prepara. El panel también permite mantener productos y disponibilidad. El cliente continúa recogiendo en mostrador.</a:t>
            </a:r>
          </a:p>
          <a:p xmlns:a="http://schemas.openxmlformats.org/drawingml/2006/main">
            <a:r>
              <a:t/>
            </a:r>
          </a:p>
          <a:p xmlns:a="http://schemas.openxmlformats.org/drawingml/2006/main">
            <a:r>
              <a:t>Dedicar dos minutos a explicar el caso de una persona que pide una bebida entre clases. No recorrer todas las funciones del panel. No afirmar que la geolocalización impide absolutamente una ubicación falsificada.</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90 segundos. Tramo 4:45 a 6:15. Total previsto: 9:15, con 45 segundos de margen hasta diez minutos.</a:t>
            </a:r>
          </a:p>
          <a:p xmlns:a="http://schemas.openxmlformats.org/drawingml/2006/main">
            <a:r>
              <a:t/>
            </a:r>
          </a:p>
          <a:p xmlns:a="http://schemas.openxmlformats.org/drawingml/2006/main">
            <a:r>
              <a:t>GUION</a:t>
            </a:r>
          </a:p>
          <a:p xmlns:a="http://schemas.openxmlformats.org/drawingml/2006/main">
            <a:r>
              <a:t>DEMOSTRACIÓN EN VIVO, 1:30. Abrir previamente la app del cliente. Elegir un solo producto, personalizarlo y revisar el carrito. Mostrar cómo se solicita la ubicación y, estando dentro del campus, generar el pedido. Señalar el número asignado y la entrada del historial. Si estamos fuera del campus, explicar el mensaje de restricción y mostrar un pedido de prueba ya preparado, sin fingir una compra válida.</a:t>
            </a:r>
          </a:p>
          <a:p xmlns:a="http://schemas.openxmlformats.org/drawingml/2006/main">
            <a:r>
              <a:t/>
            </a:r>
          </a:p>
          <a:p xmlns:a="http://schemas.openxmlformats.org/drawingml/2006/main">
            <a:r>
              <a:t>Ensayar el flujo con conexión disponible, ubicación precisa, cafetería abierta y un dispositivo autorizado. Tener un pedido de prueba listo para evitar que el tiempo de espera entre pedidos detenga la exposición. La demostración ocupa las diapositivas 6 y 7 y suma tres minutos.</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90 segundos. Tramo 6:15 a 7:45. Total previsto: 9:15, con 45 segundos de margen hasta diez minutos.</a:t>
            </a:r>
          </a:p>
          <a:p xmlns:a="http://schemas.openxmlformats.org/drawingml/2006/main">
            <a:r>
              <a:t/>
            </a:r>
          </a:p>
          <a:p xmlns:a="http://schemas.openxmlformats.org/drawingml/2006/main">
            <a:r>
              <a:t>GUION</a:t>
            </a:r>
          </a:p>
          <a:p xmlns:a="http://schemas.openxmlformats.org/drawingml/2006/main">
            <a:r>
              <a:t>DEMOSTRACIÓN EN VIVO, 1:30. Abrir el panel del personal con la sesión iniciada. Mostrar el detalle del mismo pedido. Cambiar Generado a En preparación y después a Listo. Volver al cliente para ver el estado actualizado y, en un entorno compatible con permisos concedidos, el aviso. Explicar que Entregado cierra la atención y conserva el historial.</a:t>
            </a:r>
          </a:p>
          <a:p xmlns:a="http://schemas.openxmlformats.org/drawingml/2006/main">
            <a:r>
              <a:t/>
            </a:r>
          </a:p>
          <a:p xmlns:a="http://schemas.openxmlformats.org/drawingml/2006/main">
            <a:r>
              <a:t>El aviso actual es local: se genera cuando la app detecta el estado Listo. No prometer avisos con la aplicación completamente cerrada. Android en Expo Go omite el módulo de avisos. Usar la web compatible o una compilación instalada compatible para demostrar la notificación. Si no aparece, mostrar el estado Listo y explicar el alcance sin detener el flujo.</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a:p xmlns:a="http://schemas.openxmlformats.org/drawingml/2006/main">
            <a:r>
              <a:t>Equipo 2. (2026). Más Café. src/lib/customerNotifications.ts y src/lib/readyNotifications.ts.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 Tramo 7:45 a 8:45. Total previsto: 9:15, con 45 segundos de margen hasta diez minutos.</a:t>
            </a:r>
          </a:p>
          <a:p xmlns:a="http://schemas.openxmlformats.org/drawingml/2006/main">
            <a:r>
              <a:t/>
            </a:r>
          </a:p>
          <a:p xmlns:a="http://schemas.openxmlformats.org/drawingml/2006/main">
            <a:r>
              <a:t>GUION</a:t>
            </a:r>
          </a:p>
          <a:p xmlns:a="http://schemas.openxmlformats.org/drawingml/2006/main">
            <a:r>
              <a:t>Para los estudiantes, Más Café busca reducir la incertidumbre sobre el pedido y facilitar la recogida. Para la cafetería, ofrece órdenes legibles y seguimiento de la preparación. Para la universidad, propone una experiencia de servicio más organizada y un proceso que puede evaluarse. Estos son beneficios esperados: los tiempos ahorrados y la satisfacción deberán medirse durante el piloto.</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a:p xmlns:a="http://schemas.openxmlformats.org/drawingml/2006/main">
            <a:r>
              <a:t>Equipo 2. (2026). Project Charter: Sistema Digital de Gestión de Pedidos y Filas en la Cafetería Universitaria [Documento académico original], resumen ejecutivo e historias de usuario HU-01 a HU-04.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30 segundos. Tramo 8:45 a 9:15. Total previsto: 9:15, con 45 segundos de margen hasta diez minutos.</a:t>
            </a:r>
          </a:p>
          <a:p xmlns:a="http://schemas.openxmlformats.org/drawingml/2006/main">
            <a:r>
              <a:t/>
            </a:r>
          </a:p>
          <a:p xmlns:a="http://schemas.openxmlformats.org/drawingml/2006/main">
            <a:r>
              <a:t>GUION</a:t>
            </a:r>
          </a:p>
          <a:p xmlns:a="http://schemas.openxmlformats.org/drawingml/2006/main">
            <a:r>
              <a:t>Contamos con una versión funcional que permite demostrar el flujo de pedido y atención. Proponemos un piloto de quince días en horarios pico, sujeto al acuerdo con la cafetería y coordinación. Mediremos tiempos de espera, pedidos completados y comentarios de usuarios. Con esos resultados podremos decidir los ajustes necesarios. Gracias. Abrimos el espacio de preguntas.</a:t>
            </a:r>
          </a:p>
          <a:p xmlns:a="http://schemas.openxmlformats.org/drawingml/2006/main">
            <a:r>
              <a:t/>
            </a:r>
          </a:p>
          <a:p xmlns:a="http://schemas.openxmlformats.org/drawingml/2006/main">
            <a:r>
              <a:t>El piloto es una propuesta, no una actividad ya autorizada o realizada. La aceptación formal del cliente permanece pendiente de evidencia en el Project Charter revisado.</a:t>
            </a:r>
          </a:p>
          <a:p xmlns:a="http://schemas.openxmlformats.org/drawingml/2006/main">
            <a:r>
              <a:t/>
            </a:r>
          </a:p>
          <a:p xmlns:a="http://schemas.openxmlformats.org/drawingml/2006/main">
            <a:r>
              <a:t>CRÉDITOS</a:t>
            </a:r>
          </a:p>
          <a:p xmlns:a="http://schemas.openxmlformats.org/drawingml/2006/main">
            <a:r>
              <a:t>Equipo 2. (2026). Project Charter original y final de Más Café.</a:t>
            </a:r>
          </a:p>
          <a:p xmlns:a="http://schemas.openxmlformats.org/drawingml/2006/main">
            <a:r>
              <a:t>Equipo 2. (2026). Más Café [Repositorio de software]. https://github.com/Angel0208ia/MasCafe</a:t>
            </a:r>
          </a:p>
          <a:p xmlns:a="http://schemas.openxmlformats.org/drawingml/2006/main">
            <a:r>
              <a:t>OpenAI. (2026). ChatGPT y Codex [Herramientas de inteligencia artificial]. https://openai.com/codex/</a:t>
            </a:r>
          </a:p>
          <a:p xmlns:a="http://schemas.openxmlformats.org/drawingml/2006/main">
            <a:r>
              <a:t>Uso de IA: apoyo de redacción, revisión y diseño. Prompt: «Puedes quitarle las imágenes y dejarla más profesional igual utilizando la colorimetría del app». Resultado: versión sin imágenes, con texto editable y paleta tomada de src/constants/theme.ts y admin-panel/src/app/globals.css.</a:t>
            </a:r>
          </a:p>
          <a:p xmlns:a="http://schemas.openxmlformats.org/drawingml/2006/main">
            <a:r>
              <a:t/>
            </a:r>
          </a:p>
          <a:p xmlns:a="http://schemas.openxmlformats.org/drawingml/2006/main">
            <a:r>
              <a:t>FUENTES</a:t>
            </a:r>
          </a:p>
          <a:p xmlns:a="http://schemas.openxmlformats.org/drawingml/2006/main">
            <a:r>
              <a:t>Equipo 2. (2026). Project Charter final del proyecto Más Café [Documento académico]. docs/Project_Charter_Final_Mas_Cafe.docx.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6806b1ac1d43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d516577f484409" /><Relationship Type="http://schemas.openxmlformats.org/officeDocument/2006/relationships/slideLayout" Target="/ppt/slideLayouts/slideLayout1.xml" Id="R7767f9be8e6c4b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67f9be8e6c4b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ás Café">
      <a:dk1>
        <a:srgbClr val="1B1512"/>
      </a:dk1>
      <a:lt1>
        <a:srgbClr val="FFFFFF"/>
      </a:lt1>
      <a:dk2>
        <a:srgbClr val="3B2318"/>
      </a:dk2>
      <a:lt2>
        <a:srgbClr val="FAF6F0"/>
      </a:lt2>
      <a:accent1>
        <a:srgbClr val="3B2318"/>
      </a:accent1>
      <a:accent2>
        <a:srgbClr val="543326"/>
      </a:accent2>
      <a:accent3>
        <a:srgbClr val="714838"/>
      </a:accent3>
      <a:accent4>
        <a:srgbClr val="F3E9DC"/>
      </a:accent4>
      <a:accent5>
        <a:srgbClr val="DFD3C3"/>
      </a:accent5>
      <a:accent6>
        <a:srgbClr val="74675E"/>
      </a:accent6>
      <a:hlink>
        <a:srgbClr val="543326"/>
      </a:hlink>
      <a:folHlink>
        <a:srgbClr val="714838"/>
      </a:folHlink>
    </a:clrScheme>
    <a:fontScheme name="Office">
      <a:majorFont>
        <a:latin typeface="Calibri Light"/>
        <a:ea typeface="Calibri Light"/>
        <a:cs typeface="Calibri Light"/>
      </a:majorFont>
      <a:minorFont>
        <a:latin typeface="Calibri"/>
        <a:ea typeface="Calibri"/>
        <a:cs typeface="Calibri"/>
      </a:minorFont>
    </a:fontScheme>
    <a:fmtScheme name="Más Café">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e876956288424d" /><Relationship Type="http://schemas.openxmlformats.org/officeDocument/2006/relationships/notesSlide" Target="/ppt/notesSlides/notesSlide1.xml" Id="R9012801030c84e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9f4f6ce2ae4a4e" /><Relationship Type="http://schemas.openxmlformats.org/officeDocument/2006/relationships/notesSlide" Target="/ppt/notesSlides/notesSlide2.xml" Id="R3948e9577cb540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d02f42431c4d46" /><Relationship Type="http://schemas.openxmlformats.org/officeDocument/2006/relationships/notesSlide" Target="/ppt/notesSlides/notesSlide3.xml" Id="R13f06722ff6f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c1051c88f34b2f" /><Relationship Type="http://schemas.openxmlformats.org/officeDocument/2006/relationships/notesSlide" Target="/ppt/notesSlides/notesSlide4.xml" Id="R3233968783604e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dbbba6b005441f" /><Relationship Type="http://schemas.openxmlformats.org/officeDocument/2006/relationships/notesSlide" Target="/ppt/notesSlides/notesSlide5.xml" Id="R98821bb8d32942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87780fe7dc4bcc" /><Relationship Type="http://schemas.openxmlformats.org/officeDocument/2006/relationships/notesSlide" Target="/ppt/notesSlides/notesSlide6.xml" Id="R7cfb3c8ff54d45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76f40c9827477f" /><Relationship Type="http://schemas.openxmlformats.org/officeDocument/2006/relationships/notesSlide" Target="/ppt/notesSlides/notesSlide7.xml" Id="R6c2e2f6e78514d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4dc061acb84193" /><Relationship Type="http://schemas.openxmlformats.org/officeDocument/2006/relationships/notesSlide" Target="/ppt/notesSlides/notesSlide8.xml" Id="R08dd8231cf894b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c0adcfe9c3415b" /><Relationship Type="http://schemas.openxmlformats.org/officeDocument/2006/relationships/notesSlide" Target="/ppt/notesSlides/notesSlide9.xml" Id="Re618e3c448de48d8" /></Relationships>
</file>

<file path=ppt/slides/slide1.xml><?xml version="1.0" encoding="utf-8"?>
<p:sld xmlns:p="http://schemas.openxmlformats.org/presentationml/2006/main">
  <p:cSld>
    <p:bg>
      <p:bgPr>
        <a:solidFill xmlns:a="http://schemas.openxmlformats.org/drawingml/2006/main">
          <a:srgbClr val="3B2318"/>
        </a:solidFill>
      </p:bgPr>
    </p:bg>
    <p:spTree>
      <p:nvGrpSpPr>
        <p:cNvPr id="1" name=""/>
        <p:cNvGrpSpPr/>
        <p:nvPr/>
      </p:nvGrpSpPr>
      <p:grpSpPr>
        <a:xfrm xmlns:a="http://schemas.openxmlformats.org/drawingml/2006/main"/>
      </p:grpSpPr>
      <p:sp>
        <p:nvSpPr>
          <p:cNvPr id="7" name="cover-label">
            <a:extLst xmlns:a="http://schemas.openxmlformats.org/drawingml/2006/main">
              <a:ext uri="{FF2B5EF4-FFF2-40B4-BE49-F238E27FC236}">
                <a16:creationId xmlns:a16="http://schemas.microsoft.com/office/drawing/2014/main" id="{32A91EF5-8873-4B4D-A70B-06ADBB60A243}"/>
              </a:ext>
            </a:extLst>
          </p:cNvPr>
          <p:cNvSpPr>
            <a:spLocks xmlns:a="http://schemas.openxmlformats.org/drawingml/2006/main" noGrp="1"/>
          </p:cNvSpPr>
          <p:nvPr/>
        </p:nvSpPr>
        <p:spPr>
          <a:xfrm xmlns:a="http://schemas.openxmlformats.org/drawingml/2006/main">
            <a:off x="838200" y="5619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DFD3C3"/>
                </a:solidFill>
                <a:latin typeface="Arial"/>
                <a:ea typeface="Arial"/>
                <a:cs typeface="Arial"/>
              </a:defRPr>
            </a:pPr>
            <a:r>
              <a:rPr sz="1350" b="1">
                <a:solidFill>
                  <a:srgbClr val="DFD3C3"/>
                </a:solidFill>
                <a:latin typeface="Arial"/>
                <a:ea typeface="Arial"/>
                <a:cs typeface="Arial"/>
              </a:rPr>
              <a:t>PRESENTACIÓN EJECUTIVA</a:t>
            </a:r>
          </a:p>
        </p:txBody>
      </p:sp>
      <p:sp>
        <p:nvSpPr>
          <p:cNvPr id="2" name="cover-brand">
            <a:extLst xmlns:a="http://schemas.openxmlformats.org/drawingml/2006/main">
              <a:ext uri="{FF2B5EF4-FFF2-40B4-BE49-F238E27FC236}">
                <a16:creationId xmlns:a16="http://schemas.microsoft.com/office/drawing/2014/main" id="{578981BA-44E9-480D-BF82-B4693E51D894}"/>
              </a:ext>
            </a:extLst>
          </p:cNvPr>
          <p:cNvSpPr>
            <a:spLocks xmlns:a="http://schemas.openxmlformats.org/drawingml/2006/main" noGrp="1"/>
          </p:cNvSpPr>
          <p:nvPr/>
        </p:nvSpPr>
        <p:spPr>
          <a:xfrm xmlns:a="http://schemas.openxmlformats.org/drawingml/2006/main">
            <a:off x="762000" y="1666875"/>
            <a:ext cx="10620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400" b="1">
                <a:solidFill>
                  <a:srgbClr val="FAF6F0"/>
                </a:solidFill>
                <a:latin typeface="Arial"/>
                <a:ea typeface="Arial"/>
                <a:cs typeface="Arial"/>
              </a:defRPr>
            </a:pPr>
            <a:r>
              <a:rPr sz="8400" b="1">
                <a:solidFill>
                  <a:srgbClr val="FAF6F0"/>
                </a:solidFill>
                <a:latin typeface="Arial"/>
                <a:ea typeface="Arial"/>
                <a:cs typeface="Arial"/>
              </a:rPr>
              <a:t>Más Café</a:t>
            </a:r>
          </a:p>
        </p:txBody>
      </p:sp>
      <p:sp>
        <p:nvSpPr>
          <p:cNvPr id="3" name="cover-subtitle">
            <a:extLst xmlns:a="http://schemas.openxmlformats.org/drawingml/2006/main">
              <a:ext uri="{FF2B5EF4-FFF2-40B4-BE49-F238E27FC236}">
                <a16:creationId xmlns:a16="http://schemas.microsoft.com/office/drawing/2014/main" id="{091F4590-A447-4466-B0B3-83D2EE4FEFEE}"/>
              </a:ext>
            </a:extLst>
          </p:cNvPr>
          <p:cNvSpPr>
            <a:spLocks xmlns:a="http://schemas.openxmlformats.org/drawingml/2006/main" noGrp="1"/>
          </p:cNvSpPr>
          <p:nvPr/>
        </p:nvSpPr>
        <p:spPr>
          <a:xfrm xmlns:a="http://schemas.openxmlformats.org/drawingml/2006/main">
            <a:off x="838200" y="3409950"/>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F3E9DC"/>
                </a:solidFill>
                <a:latin typeface="Arial"/>
                <a:ea typeface="Arial"/>
                <a:cs typeface="Arial"/>
              </a:defRPr>
            </a:pPr>
            <a:r>
              <a:rPr sz="2700" b="0">
                <a:solidFill>
                  <a:srgbClr val="F3E9DC"/>
                </a:solidFill>
                <a:latin typeface="Arial"/>
                <a:ea typeface="Arial"/>
                <a:cs typeface="Arial"/>
              </a:rPr>
              <a:t>Pedidos en el campus,</a:t>
            </a:r>
          </a:p>
          <a:p xmlns:a="http://schemas.openxmlformats.org/drawingml/2006/main">
            <a:pPr algn="l">
              <a:defRPr sz="2700" b="0">
                <a:solidFill>
                  <a:srgbClr val="F3E9DC"/>
                </a:solidFill>
                <a:latin typeface="Arial"/>
                <a:ea typeface="Arial"/>
                <a:cs typeface="Arial"/>
              </a:defRPr>
            </a:pPr>
            <a:r>
              <a:rPr sz="2700" b="0">
                <a:solidFill>
                  <a:srgbClr val="F3E9DC"/>
                </a:solidFill>
                <a:latin typeface="Arial"/>
                <a:ea typeface="Arial"/>
                <a:cs typeface="Arial"/>
              </a:rPr>
              <a:t>con seguimiento hasta la entrega</a:t>
            </a:r>
          </a:p>
        </p:txBody>
      </p:sp>
      <p:sp>
        <p:nvSpPr>
          <p:cNvPr id="4" name="cover-divider">
            <a:extLst xmlns:a="http://schemas.openxmlformats.org/drawingml/2006/main">
              <a:ext uri="{FF2B5EF4-FFF2-40B4-BE49-F238E27FC236}">
                <a16:creationId xmlns:a16="http://schemas.microsoft.com/office/drawing/2014/main" id="{0ADB59C4-62F2-417C-A296-121CB83E7390}"/>
              </a:ext>
            </a:extLst>
          </p:cNvPr>
          <p:cNvSpPr>
            <a:spLocks xmlns:a="http://schemas.openxmlformats.org/drawingml/2006/main" noGrp="1"/>
          </p:cNvSpPr>
          <p:nvPr/>
        </p:nvSpPr>
        <p:spPr>
          <a:xfrm xmlns:a="http://schemas.openxmlformats.org/drawingml/2006/main">
            <a:off x="838200" y="5476875"/>
            <a:ext cx="10515600" cy="0"/>
          </a:xfrm>
          <a:prstGeom xmlns:a="http://schemas.openxmlformats.org/drawingml/2006/main" prst="line">
            <a:avLst/>
          </a:prstGeom>
          <a:noFill xmlns:a="http://schemas.openxmlformats.org/drawingml/2006/main"/>
          <a:ln xmlns:a="http://schemas.openxmlformats.org/drawingml/2006/main" w="9525">
            <a:solidFill>
              <a:srgbClr val="714838"/>
            </a:solidFill>
          </a:ln>
        </p:spPr>
      </p:sp>
      <p:sp>
        <p:nvSpPr>
          <p:cNvPr id="5" name="cover-team">
            <a:extLst xmlns:a="http://schemas.openxmlformats.org/drawingml/2006/main">
              <a:ext uri="{FF2B5EF4-FFF2-40B4-BE49-F238E27FC236}">
                <a16:creationId xmlns:a16="http://schemas.microsoft.com/office/drawing/2014/main" id="{0B396DAB-8832-4D4E-8108-ACB162B2B0E0}"/>
              </a:ext>
            </a:extLst>
          </p:cNvPr>
          <p:cNvSpPr>
            <a:spLocks xmlns:a="http://schemas.openxmlformats.org/drawingml/2006/main" noGrp="1"/>
          </p:cNvSpPr>
          <p:nvPr/>
        </p:nvSpPr>
        <p:spPr>
          <a:xfrm xmlns:a="http://schemas.openxmlformats.org/drawingml/2006/main">
            <a:off x="838200" y="5743575"/>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FAF6F0"/>
                </a:solidFill>
                <a:latin typeface="Arial"/>
                <a:ea typeface="Arial"/>
                <a:cs typeface="Arial"/>
              </a:defRPr>
            </a:pPr>
            <a:r>
              <a:rPr sz="1575" b="0">
                <a:solidFill>
                  <a:srgbClr val="FAF6F0"/>
                </a:solidFill>
                <a:latin typeface="Arial"/>
                <a:ea typeface="Arial"/>
                <a:cs typeface="Arial"/>
              </a:rPr>
              <a:t>Equipo 2</a:t>
            </a:r>
          </a:p>
          <a:p xmlns:a="http://schemas.openxmlformats.org/drawingml/2006/main">
            <a:pPr algn="l">
              <a:defRPr sz="1575" b="0">
                <a:solidFill>
                  <a:srgbClr val="FAF6F0"/>
                </a:solidFill>
                <a:latin typeface="Arial"/>
                <a:ea typeface="Arial"/>
                <a:cs typeface="Arial"/>
              </a:defRPr>
            </a:pPr>
            <a:r>
              <a:rPr sz="1575" b="0">
                <a:solidFill>
                  <a:srgbClr val="FAF6F0"/>
                </a:solidFill>
                <a:latin typeface="Arial"/>
                <a:ea typeface="Arial"/>
                <a:cs typeface="Arial"/>
              </a:rPr>
              <a:t>Tecmilenio Campus Cancún</a:t>
            </a:r>
          </a:p>
        </p:txBody>
      </p:sp>
      <p:sp>
        <p:nvSpPr>
          <p:cNvPr id="6" name="cover-date">
            <a:extLst xmlns:a="http://schemas.openxmlformats.org/drawingml/2006/main">
              <a:ext uri="{FF2B5EF4-FFF2-40B4-BE49-F238E27FC236}">
                <a16:creationId xmlns:a16="http://schemas.microsoft.com/office/drawing/2014/main" id="{0FFA14BF-5060-404B-9A84-1ED7444E4DD6}"/>
              </a:ext>
            </a:extLst>
          </p:cNvPr>
          <p:cNvSpPr>
            <a:spLocks xmlns:a="http://schemas.openxmlformats.org/drawingml/2006/main" noGrp="1"/>
          </p:cNvSpPr>
          <p:nvPr/>
        </p:nvSpPr>
        <p:spPr>
          <a:xfrm xmlns:a="http://schemas.openxmlformats.org/drawingml/2006/main">
            <a:off x="7715250" y="5743575"/>
            <a:ext cx="3638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b="0">
                <a:solidFill>
                  <a:srgbClr val="F3E9DC"/>
                </a:solidFill>
                <a:latin typeface="Arial"/>
                <a:ea typeface="Arial"/>
                <a:cs typeface="Arial"/>
              </a:defRPr>
            </a:pPr>
            <a:r>
              <a:rPr sz="1575" b="0">
                <a:solidFill>
                  <a:srgbClr val="F3E9DC"/>
                </a:solidFill>
                <a:latin typeface="Arial"/>
                <a:ea typeface="Arial"/>
                <a:cs typeface="Arial"/>
              </a:rPr>
              <a:t>28 de septiembre de 2026</a:t>
            </a:r>
          </a:p>
          <a:p xmlns:a="http://schemas.openxmlformats.org/drawingml/2006/main">
            <a:pPr algn="r">
              <a:defRPr sz="1575" b="0">
                <a:solidFill>
                  <a:srgbClr val="F3E9DC"/>
                </a:solidFill>
                <a:latin typeface="Arial"/>
                <a:ea typeface="Arial"/>
                <a:cs typeface="Arial"/>
              </a:defRPr>
            </a:pPr>
            <a:r>
              <a:rPr sz="1575" b="0">
                <a:solidFill>
                  <a:srgbClr val="F3E9DC"/>
                </a:solidFill>
                <a:latin typeface="Arial"/>
                <a:ea typeface="Arial"/>
                <a:cs typeface="Arial"/>
              </a:rPr>
              <a:t>18:00 h</a:t>
            </a:r>
          </a:p>
        </p:txBody>
      </p:sp>
    </p:spTree>
    <p:extLst>
      <p:ext uri="{BB962C8B-B14F-4D97-AF65-F5344CB8AC3E}">
        <p14:creationId xmlns:p14="http://schemas.microsoft.com/office/powerpoint/2010/main" val="134751689"/>
      </p:ext>
    </p:extLst>
  </p:cSld>
</p:sld>
</file>

<file path=ppt/slides/slide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CEB9CFBC-A760-4869-86A0-BA8C6BFF3B13}"/>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PROBLEMA IDENTIFICADO</a:t>
            </a:r>
          </a:p>
        </p:txBody>
      </p:sp>
      <p:sp>
        <p:nvSpPr>
          <p:cNvPr id="2" name="slide-title">
            <a:extLst xmlns:a="http://schemas.openxmlformats.org/drawingml/2006/main">
              <a:ext uri="{FF2B5EF4-FFF2-40B4-BE49-F238E27FC236}">
                <a16:creationId xmlns:a16="http://schemas.microsoft.com/office/drawing/2014/main" id="{99F55693-0041-41A7-8A0F-FC78CF12CF30}"/>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La fila concentra la presión</a:t>
            </a:r>
          </a:p>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en el mostrador</a:t>
            </a:r>
          </a:p>
        </p:txBody>
      </p:sp>
      <p:sp>
        <p:nvSpPr>
          <p:cNvPr id="3" name="slide-number">
            <a:extLst xmlns:a="http://schemas.openxmlformats.org/drawingml/2006/main">
              <a:ext uri="{FF2B5EF4-FFF2-40B4-BE49-F238E27FC236}">
                <a16:creationId xmlns:a16="http://schemas.microsoft.com/office/drawing/2014/main" id="{76D63A78-FEA9-426B-85E7-6FBC823D6872}"/>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02</a:t>
            </a:r>
          </a:p>
        </p:txBody>
      </p:sp>
      <p:sp>
        <p:nvSpPr>
          <p:cNvPr id="4" name="problem-divider">
            <a:extLst xmlns:a="http://schemas.openxmlformats.org/drawingml/2006/main">
              <a:ext uri="{FF2B5EF4-FFF2-40B4-BE49-F238E27FC236}">
                <a16:creationId xmlns:a16="http://schemas.microsoft.com/office/drawing/2014/main" id="{4A199FAD-6114-441F-A97B-0E865E41DF34}"/>
              </a:ext>
            </a:extLst>
          </p:cNvPr>
          <p:cNvSpPr>
            <a:spLocks xmlns:a="http://schemas.openxmlformats.org/drawingml/2006/main" noGrp="1"/>
          </p:cNvSpPr>
          <p:nvPr/>
        </p:nvSpPr>
        <p:spPr>
          <a:xfrm xmlns:a="http://schemas.openxmlformats.org/drawingml/2006/main">
            <a:off x="838200" y="2667000"/>
            <a:ext cx="1051560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5" name="student-label">
            <a:extLst xmlns:a="http://schemas.openxmlformats.org/drawingml/2006/main">
              <a:ext uri="{FF2B5EF4-FFF2-40B4-BE49-F238E27FC236}">
                <a16:creationId xmlns:a16="http://schemas.microsoft.com/office/drawing/2014/main" id="{53A4459F-1AE4-48EB-B742-99756E511FA3}"/>
              </a:ext>
            </a:extLst>
          </p:cNvPr>
          <p:cNvSpPr>
            <a:spLocks xmlns:a="http://schemas.openxmlformats.org/drawingml/2006/main" noGrp="1"/>
          </p:cNvSpPr>
          <p:nvPr/>
        </p:nvSpPr>
        <p:spPr>
          <a:xfrm xmlns:a="http://schemas.openxmlformats.org/drawingml/2006/main">
            <a:off x="838200" y="30384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Estudiantes</a:t>
            </a:r>
          </a:p>
        </p:txBody>
      </p:sp>
      <p:sp>
        <p:nvSpPr>
          <p:cNvPr id="6" name="student-problem">
            <a:extLst xmlns:a="http://schemas.openxmlformats.org/drawingml/2006/main">
              <a:ext uri="{FF2B5EF4-FFF2-40B4-BE49-F238E27FC236}">
                <a16:creationId xmlns:a16="http://schemas.microsoft.com/office/drawing/2014/main" id="{84EEF435-A1AE-4D42-82DA-517D67D6A301}"/>
              </a:ext>
            </a:extLst>
          </p:cNvPr>
          <p:cNvSpPr>
            <a:spLocks xmlns:a="http://schemas.openxmlformats.org/drawingml/2006/main" noGrp="1"/>
          </p:cNvSpPr>
          <p:nvPr/>
        </p:nvSpPr>
        <p:spPr>
          <a:xfrm xmlns:a="http://schemas.openxmlformats.org/drawingml/2006/main">
            <a:off x="838200" y="3600450"/>
            <a:ext cx="4838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B1512"/>
                </a:solidFill>
                <a:latin typeface="Arial"/>
                <a:ea typeface="Arial"/>
                <a:cs typeface="Arial"/>
              </a:defRPr>
            </a:pPr>
            <a:r>
              <a:rPr sz="2550" b="0">
                <a:solidFill>
                  <a:srgbClr val="1B1512"/>
                </a:solidFill>
                <a:latin typeface="Arial"/>
                <a:ea typeface="Arial"/>
                <a:cs typeface="Arial"/>
              </a:rPr>
              <a:t>Tiempo de espera en los</a:t>
            </a:r>
          </a:p>
          <a:p xmlns:a="http://schemas.openxmlformats.org/drawingml/2006/main">
            <a:pPr algn="l">
              <a:defRPr sz="2550" b="0">
                <a:solidFill>
                  <a:srgbClr val="1B1512"/>
                </a:solidFill>
                <a:latin typeface="Arial"/>
                <a:ea typeface="Arial"/>
                <a:cs typeface="Arial"/>
              </a:defRPr>
            </a:pPr>
            <a:r>
              <a:rPr sz="2550" b="0">
                <a:solidFill>
                  <a:srgbClr val="1B1512"/>
                </a:solidFill>
                <a:latin typeface="Arial"/>
                <a:ea typeface="Arial"/>
                <a:cs typeface="Arial"/>
              </a:rPr>
              <a:t>horarios de mayor demanda.</a:t>
            </a:r>
          </a:p>
        </p:txBody>
      </p:sp>
      <p:sp>
        <p:nvSpPr>
          <p:cNvPr id="7" name="cafeteria-label">
            <a:extLst xmlns:a="http://schemas.openxmlformats.org/drawingml/2006/main">
              <a:ext uri="{FF2B5EF4-FFF2-40B4-BE49-F238E27FC236}">
                <a16:creationId xmlns:a16="http://schemas.microsoft.com/office/drawing/2014/main" id="{E3BC569F-7DB2-4603-BB08-891FF7A13CEC}"/>
              </a:ext>
            </a:extLst>
          </p:cNvPr>
          <p:cNvSpPr>
            <a:spLocks xmlns:a="http://schemas.openxmlformats.org/drawingml/2006/main" noGrp="1"/>
          </p:cNvSpPr>
          <p:nvPr/>
        </p:nvSpPr>
        <p:spPr>
          <a:xfrm xmlns:a="http://schemas.openxmlformats.org/drawingml/2006/main">
            <a:off x="6572250" y="3038475"/>
            <a:ext cx="478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Cafetería</a:t>
            </a:r>
          </a:p>
        </p:txBody>
      </p:sp>
      <p:sp>
        <p:nvSpPr>
          <p:cNvPr id="8" name="cafeteria-problem">
            <a:extLst xmlns:a="http://schemas.openxmlformats.org/drawingml/2006/main">
              <a:ext uri="{FF2B5EF4-FFF2-40B4-BE49-F238E27FC236}">
                <a16:creationId xmlns:a16="http://schemas.microsoft.com/office/drawing/2014/main" id="{9A815DE3-ACDE-467A-83CE-94756BC89793}"/>
              </a:ext>
            </a:extLst>
          </p:cNvPr>
          <p:cNvSpPr>
            <a:spLocks xmlns:a="http://schemas.openxmlformats.org/drawingml/2006/main" noGrp="1"/>
          </p:cNvSpPr>
          <p:nvPr/>
        </p:nvSpPr>
        <p:spPr>
          <a:xfrm xmlns:a="http://schemas.openxmlformats.org/drawingml/2006/main">
            <a:off x="6572250" y="3600450"/>
            <a:ext cx="4781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B1512"/>
                </a:solidFill>
                <a:latin typeface="Arial"/>
                <a:ea typeface="Arial"/>
                <a:cs typeface="Arial"/>
              </a:defRPr>
            </a:pPr>
            <a:r>
              <a:rPr sz="2550" b="0">
                <a:solidFill>
                  <a:srgbClr val="1B1512"/>
                </a:solidFill>
                <a:latin typeface="Arial"/>
                <a:ea typeface="Arial"/>
                <a:cs typeface="Arial"/>
              </a:rPr>
              <a:t>Pedidos simultáneos y poca</a:t>
            </a:r>
          </a:p>
          <a:p xmlns:a="http://schemas.openxmlformats.org/drawingml/2006/main">
            <a:pPr algn="l">
              <a:defRPr sz="2550" b="0">
                <a:solidFill>
                  <a:srgbClr val="1B1512"/>
                </a:solidFill>
                <a:latin typeface="Arial"/>
                <a:ea typeface="Arial"/>
                <a:cs typeface="Arial"/>
              </a:defRPr>
            </a:pPr>
            <a:r>
              <a:rPr sz="2550" b="0">
                <a:solidFill>
                  <a:srgbClr val="1B1512"/>
                </a:solidFill>
                <a:latin typeface="Arial"/>
                <a:ea typeface="Arial"/>
                <a:cs typeface="Arial"/>
              </a:rPr>
              <a:t>visibilidad sobre su avance.</a:t>
            </a:r>
          </a:p>
        </p:txBody>
      </p:sp>
      <p:sp>
        <p:nvSpPr>
          <p:cNvPr id="9" name="problem-conclusion">
            <a:extLst xmlns:a="http://schemas.openxmlformats.org/drawingml/2006/main">
              <a:ext uri="{FF2B5EF4-FFF2-40B4-BE49-F238E27FC236}">
                <a16:creationId xmlns:a16="http://schemas.microsoft.com/office/drawing/2014/main" id="{2212BFBE-D696-4E4C-8D6C-07C918BA392B}"/>
              </a:ext>
            </a:extLst>
          </p:cNvPr>
          <p:cNvSpPr>
            <a:spLocks xmlns:a="http://schemas.openxmlformats.org/drawingml/2006/main" noGrp="1"/>
          </p:cNvSpPr>
          <p:nvPr/>
        </p:nvSpPr>
        <p:spPr>
          <a:xfrm xmlns:a="http://schemas.openxmlformats.org/drawingml/2006/main">
            <a:off x="838200" y="53625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B2318"/>
                </a:solidFill>
                <a:latin typeface="Arial"/>
                <a:ea typeface="Arial"/>
                <a:cs typeface="Arial"/>
              </a:defRPr>
            </a:pPr>
            <a:r>
              <a:rPr sz="2175" b="1">
                <a:solidFill>
                  <a:srgbClr val="3B2318"/>
                </a:solidFill>
                <a:latin typeface="Arial"/>
                <a:ea typeface="Arial"/>
                <a:cs typeface="Arial"/>
              </a:rPr>
              <a:t>El reto es organizar el pedido antes de llegar al mostrador.</a:t>
            </a:r>
          </a:p>
        </p:txBody>
      </p:sp>
    </p:spTree>
    <p:extLst>
      <p:ext uri="{BB962C8B-B14F-4D97-AF65-F5344CB8AC3E}">
        <p14:creationId xmlns:p14="http://schemas.microsoft.com/office/powerpoint/2010/main" val="13660343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1C35A70D-12CB-45A9-B01C-C007F7B89CDA}"/>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INVESTIGACIÓN</a:t>
            </a:r>
          </a:p>
        </p:txBody>
      </p:sp>
      <p:sp>
        <p:nvSpPr>
          <p:cNvPr id="2" name="slide-title">
            <a:extLst xmlns:a="http://schemas.openxmlformats.org/drawingml/2006/main">
              <a:ext uri="{FF2B5EF4-FFF2-40B4-BE49-F238E27FC236}">
                <a16:creationId xmlns:a16="http://schemas.microsoft.com/office/drawing/2014/main" id="{17E1272D-12E5-4496-8989-850472E685E7}"/>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Necesidades documentadas por el equipo</a:t>
            </a:r>
          </a:p>
        </p:txBody>
      </p:sp>
      <p:sp>
        <p:nvSpPr>
          <p:cNvPr id="3" name="slide-number">
            <a:extLst xmlns:a="http://schemas.openxmlformats.org/drawingml/2006/main">
              <a:ext uri="{FF2B5EF4-FFF2-40B4-BE49-F238E27FC236}">
                <a16:creationId xmlns:a16="http://schemas.microsoft.com/office/drawing/2014/main" id="{2DFC4DFA-8E73-41B5-A800-E5F943C84586}"/>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03</a:t>
            </a:r>
          </a:p>
        </p:txBody>
      </p:sp>
      <p:sp>
        <p:nvSpPr>
          <p:cNvPr id="4" name="evidence-intro">
            <a:extLst xmlns:a="http://schemas.openxmlformats.org/drawingml/2006/main">
              <a:ext uri="{FF2B5EF4-FFF2-40B4-BE49-F238E27FC236}">
                <a16:creationId xmlns:a16="http://schemas.microsoft.com/office/drawing/2014/main" id="{83A17C6B-7B1C-4369-AC4F-CEF8B95A609E}"/>
              </a:ext>
            </a:extLst>
          </p:cNvPr>
          <p:cNvSpPr>
            <a:spLocks xmlns:a="http://schemas.openxmlformats.org/drawingml/2006/main" noGrp="1"/>
          </p:cNvSpPr>
          <p:nvPr/>
        </p:nvSpPr>
        <p:spPr>
          <a:xfrm xmlns:a="http://schemas.openxmlformats.org/drawingml/2006/main">
            <a:off x="838200" y="195262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74675E"/>
                </a:solidFill>
                <a:latin typeface="Arial"/>
                <a:ea typeface="Arial"/>
                <a:cs typeface="Arial"/>
              </a:defRPr>
            </a:pPr>
            <a:r>
              <a:rPr sz="1950" b="0">
                <a:solidFill>
                  <a:srgbClr val="74675E"/>
                </a:solidFill>
                <a:latin typeface="Arial"/>
                <a:ea typeface="Arial"/>
                <a:cs typeface="Arial"/>
              </a:rPr>
              <a:t>Historias de usuario del Project Charter</a:t>
            </a:r>
          </a:p>
        </p:txBody>
      </p:sp>
      <p:sp>
        <p:nvSpPr>
          <p:cNvPr id="5" name="evidence-line-0">
            <a:extLst xmlns:a="http://schemas.openxmlformats.org/drawingml/2006/main">
              <a:ext uri="{FF2B5EF4-FFF2-40B4-BE49-F238E27FC236}">
                <a16:creationId xmlns:a16="http://schemas.microsoft.com/office/drawing/2014/main" id="{77B659EB-2E35-492A-BB8C-660BAC5CB866}"/>
              </a:ext>
            </a:extLst>
          </p:cNvPr>
          <p:cNvSpPr>
            <a:spLocks xmlns:a="http://schemas.openxmlformats.org/drawingml/2006/main" noGrp="1"/>
          </p:cNvSpPr>
          <p:nvPr/>
        </p:nvSpPr>
        <p:spPr>
          <a:xfrm xmlns:a="http://schemas.openxmlformats.org/drawingml/2006/main">
            <a:off x="838200" y="2638425"/>
            <a:ext cx="1051560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6" name="evidence-role-0">
            <a:extLst xmlns:a="http://schemas.openxmlformats.org/drawingml/2006/main">
              <a:ext uri="{FF2B5EF4-FFF2-40B4-BE49-F238E27FC236}">
                <a16:creationId xmlns:a16="http://schemas.microsoft.com/office/drawing/2014/main" id="{F1E71AD0-0B70-4FF3-A8A1-7C99B2132B79}"/>
              </a:ext>
            </a:extLst>
          </p:cNvPr>
          <p:cNvSpPr>
            <a:spLocks xmlns:a="http://schemas.openxmlformats.org/drawingml/2006/main" noGrp="1"/>
          </p:cNvSpPr>
          <p:nvPr/>
        </p:nvSpPr>
        <p:spPr>
          <a:xfrm xmlns:a="http://schemas.openxmlformats.org/drawingml/2006/main">
            <a:off x="838200" y="28098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B2318"/>
                </a:solidFill>
                <a:latin typeface="Arial"/>
                <a:ea typeface="Arial"/>
                <a:cs typeface="Arial"/>
              </a:defRPr>
            </a:pPr>
            <a:r>
              <a:rPr sz="1950" b="1">
                <a:solidFill>
                  <a:srgbClr val="3B2318"/>
                </a:solidFill>
                <a:latin typeface="Arial"/>
                <a:ea typeface="Arial"/>
                <a:cs typeface="Arial"/>
              </a:rPr>
              <a:t>Estudiantes</a:t>
            </a:r>
          </a:p>
        </p:txBody>
      </p:sp>
      <p:sp>
        <p:nvSpPr>
          <p:cNvPr id="7" name="evidence-need-0">
            <a:extLst xmlns:a="http://schemas.openxmlformats.org/drawingml/2006/main">
              <a:ext uri="{FF2B5EF4-FFF2-40B4-BE49-F238E27FC236}">
                <a16:creationId xmlns:a16="http://schemas.microsoft.com/office/drawing/2014/main" id="{F5ECA3F9-6243-4223-B34C-EBE028E7D4A5}"/>
              </a:ext>
            </a:extLst>
          </p:cNvPr>
          <p:cNvSpPr>
            <a:spLocks xmlns:a="http://schemas.openxmlformats.org/drawingml/2006/main" noGrp="1"/>
          </p:cNvSpPr>
          <p:nvPr/>
        </p:nvSpPr>
        <p:spPr>
          <a:xfrm xmlns:a="http://schemas.openxmlformats.org/drawingml/2006/main">
            <a:off x="4552950" y="2809875"/>
            <a:ext cx="680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B1512"/>
                </a:solidFill>
                <a:latin typeface="Arial"/>
                <a:ea typeface="Arial"/>
                <a:cs typeface="Arial"/>
              </a:defRPr>
            </a:pPr>
            <a:r>
              <a:rPr sz="2100" b="0">
                <a:solidFill>
                  <a:srgbClr val="1B1512"/>
                </a:solidFill>
                <a:latin typeface="Arial"/>
                <a:ea typeface="Arial"/>
                <a:cs typeface="Arial"/>
              </a:rPr>
              <a:t>Pedir con anticipación para facilitar la entrega.</a:t>
            </a:r>
          </a:p>
        </p:txBody>
      </p:sp>
      <p:sp>
        <p:nvSpPr>
          <p:cNvPr id="8" name="evidence-line-1">
            <a:extLst xmlns:a="http://schemas.openxmlformats.org/drawingml/2006/main">
              <a:ext uri="{FF2B5EF4-FFF2-40B4-BE49-F238E27FC236}">
                <a16:creationId xmlns:a16="http://schemas.microsoft.com/office/drawing/2014/main" id="{DFB2C45C-DC6D-488E-A595-B6FFAABDB5E1}"/>
              </a:ext>
            </a:extLst>
          </p:cNvPr>
          <p:cNvSpPr>
            <a:spLocks xmlns:a="http://schemas.openxmlformats.org/drawingml/2006/main" noGrp="1"/>
          </p:cNvSpPr>
          <p:nvPr/>
        </p:nvSpPr>
        <p:spPr>
          <a:xfrm xmlns:a="http://schemas.openxmlformats.org/drawingml/2006/main">
            <a:off x="838200" y="3514725"/>
            <a:ext cx="1051560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9" name="evidence-role-1">
            <a:extLst xmlns:a="http://schemas.openxmlformats.org/drawingml/2006/main">
              <a:ext uri="{FF2B5EF4-FFF2-40B4-BE49-F238E27FC236}">
                <a16:creationId xmlns:a16="http://schemas.microsoft.com/office/drawing/2014/main" id="{D95806E0-1D82-4249-83A4-C12CD6494933}"/>
              </a:ext>
            </a:extLst>
          </p:cNvPr>
          <p:cNvSpPr>
            <a:spLocks xmlns:a="http://schemas.openxmlformats.org/drawingml/2006/main" noGrp="1"/>
          </p:cNvSpPr>
          <p:nvPr/>
        </p:nvSpPr>
        <p:spPr>
          <a:xfrm xmlns:a="http://schemas.openxmlformats.org/drawingml/2006/main">
            <a:off x="838200" y="3686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B2318"/>
                </a:solidFill>
                <a:latin typeface="Arial"/>
                <a:ea typeface="Arial"/>
                <a:cs typeface="Arial"/>
              </a:defRPr>
            </a:pPr>
            <a:r>
              <a:rPr sz="1950" b="1">
                <a:solidFill>
                  <a:srgbClr val="3B2318"/>
                </a:solidFill>
                <a:latin typeface="Arial"/>
                <a:ea typeface="Arial"/>
                <a:cs typeface="Arial"/>
              </a:rPr>
              <a:t>Personal de cafetería</a:t>
            </a:r>
          </a:p>
        </p:txBody>
      </p:sp>
      <p:sp>
        <p:nvSpPr>
          <p:cNvPr id="10" name="evidence-need-1">
            <a:extLst xmlns:a="http://schemas.openxmlformats.org/drawingml/2006/main">
              <a:ext uri="{FF2B5EF4-FFF2-40B4-BE49-F238E27FC236}">
                <a16:creationId xmlns:a16="http://schemas.microsoft.com/office/drawing/2014/main" id="{C5F31F0C-8A48-44FC-91C2-61BD0512483C}"/>
              </a:ext>
            </a:extLst>
          </p:cNvPr>
          <p:cNvSpPr>
            <a:spLocks xmlns:a="http://schemas.openxmlformats.org/drawingml/2006/main" noGrp="1"/>
          </p:cNvSpPr>
          <p:nvPr/>
        </p:nvSpPr>
        <p:spPr>
          <a:xfrm xmlns:a="http://schemas.openxmlformats.org/drawingml/2006/main">
            <a:off x="4552950" y="3686175"/>
            <a:ext cx="680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B1512"/>
                </a:solidFill>
                <a:latin typeface="Arial"/>
                <a:ea typeface="Arial"/>
                <a:cs typeface="Arial"/>
              </a:defRPr>
            </a:pPr>
            <a:r>
              <a:rPr sz="2100" b="0">
                <a:solidFill>
                  <a:srgbClr val="1B1512"/>
                </a:solidFill>
                <a:latin typeface="Arial"/>
                <a:ea typeface="Arial"/>
                <a:cs typeface="Arial"/>
              </a:rPr>
              <a:t>Conocer las opciones antes de confirmar la orden.</a:t>
            </a:r>
          </a:p>
        </p:txBody>
      </p:sp>
      <p:sp>
        <p:nvSpPr>
          <p:cNvPr id="11" name="evidence-line-2">
            <a:extLst xmlns:a="http://schemas.openxmlformats.org/drawingml/2006/main">
              <a:ext uri="{FF2B5EF4-FFF2-40B4-BE49-F238E27FC236}">
                <a16:creationId xmlns:a16="http://schemas.microsoft.com/office/drawing/2014/main" id="{7307D24B-0C5C-4FD3-A4B1-CDB371279283}"/>
              </a:ext>
            </a:extLst>
          </p:cNvPr>
          <p:cNvSpPr>
            <a:spLocks xmlns:a="http://schemas.openxmlformats.org/drawingml/2006/main" noGrp="1"/>
          </p:cNvSpPr>
          <p:nvPr/>
        </p:nvSpPr>
        <p:spPr>
          <a:xfrm xmlns:a="http://schemas.openxmlformats.org/drawingml/2006/main">
            <a:off x="838200" y="4391025"/>
            <a:ext cx="1051560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2" name="evidence-role-2">
            <a:extLst xmlns:a="http://schemas.openxmlformats.org/drawingml/2006/main">
              <a:ext uri="{FF2B5EF4-FFF2-40B4-BE49-F238E27FC236}">
                <a16:creationId xmlns:a16="http://schemas.microsoft.com/office/drawing/2014/main" id="{E2C2C576-741B-4E8C-AAB2-1144BDCEB055}"/>
              </a:ext>
            </a:extLst>
          </p:cNvPr>
          <p:cNvSpPr>
            <a:spLocks xmlns:a="http://schemas.openxmlformats.org/drawingml/2006/main" noGrp="1"/>
          </p:cNvSpPr>
          <p:nvPr/>
        </p:nvSpPr>
        <p:spPr>
          <a:xfrm xmlns:a="http://schemas.openxmlformats.org/drawingml/2006/main">
            <a:off x="838200" y="45624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B2318"/>
                </a:solidFill>
                <a:latin typeface="Arial"/>
                <a:ea typeface="Arial"/>
                <a:cs typeface="Arial"/>
              </a:defRPr>
            </a:pPr>
            <a:r>
              <a:rPr sz="1950" b="1">
                <a:solidFill>
                  <a:srgbClr val="3B2318"/>
                </a:solidFill>
                <a:latin typeface="Arial"/>
                <a:ea typeface="Arial"/>
                <a:cs typeface="Arial"/>
              </a:rPr>
              <a:t>Administración</a:t>
            </a:r>
          </a:p>
        </p:txBody>
      </p:sp>
      <p:sp>
        <p:nvSpPr>
          <p:cNvPr id="13" name="evidence-need-2">
            <a:extLst xmlns:a="http://schemas.openxmlformats.org/drawingml/2006/main">
              <a:ext uri="{FF2B5EF4-FFF2-40B4-BE49-F238E27FC236}">
                <a16:creationId xmlns:a16="http://schemas.microsoft.com/office/drawing/2014/main" id="{F41FA5EF-C39C-4275-B5D1-101B0088D157}"/>
              </a:ext>
            </a:extLst>
          </p:cNvPr>
          <p:cNvSpPr>
            <a:spLocks xmlns:a="http://schemas.openxmlformats.org/drawingml/2006/main" noGrp="1"/>
          </p:cNvSpPr>
          <p:nvPr/>
        </p:nvSpPr>
        <p:spPr>
          <a:xfrm xmlns:a="http://schemas.openxmlformats.org/drawingml/2006/main">
            <a:off x="4552950" y="4562475"/>
            <a:ext cx="680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B1512"/>
                </a:solidFill>
                <a:latin typeface="Arial"/>
                <a:ea typeface="Arial"/>
                <a:cs typeface="Arial"/>
              </a:defRPr>
            </a:pPr>
            <a:r>
              <a:rPr sz="2100" b="0">
                <a:solidFill>
                  <a:srgbClr val="1B1512"/>
                </a:solidFill>
                <a:latin typeface="Arial"/>
                <a:ea typeface="Arial"/>
                <a:cs typeface="Arial"/>
              </a:rPr>
              <a:t>Avisar cuando el pedido esté listo para recoger.</a:t>
            </a:r>
          </a:p>
        </p:txBody>
      </p:sp>
      <p:sp>
        <p:nvSpPr>
          <p:cNvPr id="14" name="evidence-pending">
            <a:extLst xmlns:a="http://schemas.openxmlformats.org/drawingml/2006/main">
              <a:ext uri="{FF2B5EF4-FFF2-40B4-BE49-F238E27FC236}">
                <a16:creationId xmlns:a16="http://schemas.microsoft.com/office/drawing/2014/main" id="{98BF601D-3F71-4EAA-8664-9A345B7ED745}"/>
              </a:ext>
            </a:extLst>
          </p:cNvPr>
          <p:cNvSpPr>
            <a:spLocks xmlns:a="http://schemas.openxmlformats.org/drawingml/2006/main" noGrp="1"/>
          </p:cNvSpPr>
          <p:nvPr/>
        </p:nvSpPr>
        <p:spPr>
          <a:xfrm xmlns:a="http://schemas.openxmlformats.org/drawingml/2006/main">
            <a:off x="838200" y="57816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74675E"/>
                </a:solidFill>
                <a:latin typeface="Arial"/>
                <a:ea typeface="Arial"/>
                <a:cs typeface="Arial"/>
              </a:defRPr>
            </a:pPr>
            <a:r>
              <a:rPr sz="1575" b="0">
                <a:solidFill>
                  <a:srgbClr val="74675E"/>
                </a:solidFill>
                <a:latin typeface="Arial"/>
                <a:ea typeface="Arial"/>
                <a:cs typeface="Arial"/>
              </a:rPr>
              <a:t>Evidencia de campo y aceptación del cliente: pendiente de incorporar.</a:t>
            </a:r>
          </a:p>
        </p:txBody>
      </p:sp>
    </p:spTree>
    <p:extLst>
      <p:ext uri="{BB962C8B-B14F-4D97-AF65-F5344CB8AC3E}">
        <p14:creationId xmlns:p14="http://schemas.microsoft.com/office/powerpoint/2010/main" val="703398112"/>
      </p:ext>
    </p:extLst>
  </p:cSld>
</p:sld>
</file>

<file path=ppt/slides/slide4.xml><?xml version="1.0" encoding="utf-8"?>
<p:sld xmlns:p="http://schemas.openxmlformats.org/presentationml/2006/main">
  <p:cSld>
    <p:bg>
      <p:bgPr>
        <a:solidFill xmlns:a="http://schemas.openxmlformats.org/drawingml/2006/main">
          <a:srgbClr val="3B2318"/>
        </a:solidFill>
      </p:bgPr>
    </p:bg>
    <p:spTree>
      <p:nvGrpSpPr>
        <p:cNvPr id="1" name=""/>
        <p:cNvGrpSpPr/>
        <p:nvPr/>
      </p:nvGrpSpPr>
      <p:grpSpPr>
        <a:xfrm xmlns:a="http://schemas.openxmlformats.org/drawingml/2006/main"/>
      </p:grpSpPr>
      <p:sp>
        <p:nvSpPr>
          <p:cNvPr id="6" name="objective-label">
            <a:extLst xmlns:a="http://schemas.openxmlformats.org/drawingml/2006/main">
              <a:ext uri="{FF2B5EF4-FFF2-40B4-BE49-F238E27FC236}">
                <a16:creationId xmlns:a16="http://schemas.microsoft.com/office/drawing/2014/main" id="{F756D73E-9E6B-41D1-B618-A48C3848BD42}"/>
              </a:ext>
            </a:extLst>
          </p:cNvPr>
          <p:cNvSpPr>
            <a:spLocks xmlns:a="http://schemas.openxmlformats.org/drawingml/2006/main" noGrp="1"/>
          </p:cNvSpPr>
          <p:nvPr/>
        </p:nvSpPr>
        <p:spPr>
          <a:xfrm xmlns:a="http://schemas.openxmlformats.org/drawingml/2006/main">
            <a:off x="838200" y="5334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DFD3C3"/>
                </a:solidFill>
                <a:latin typeface="Arial"/>
                <a:ea typeface="Arial"/>
                <a:cs typeface="Arial"/>
              </a:defRPr>
            </a:pPr>
            <a:r>
              <a:rPr sz="1350" b="1">
                <a:solidFill>
                  <a:srgbClr val="DFD3C3"/>
                </a:solidFill>
                <a:latin typeface="Arial"/>
                <a:ea typeface="Arial"/>
                <a:cs typeface="Arial"/>
              </a:rPr>
              <a:t>OBJETIVO DEL PROYECTO</a:t>
            </a:r>
          </a:p>
        </p:txBody>
      </p:sp>
      <p:sp>
        <p:nvSpPr>
          <p:cNvPr id="2" name="objective-main">
            <a:extLst xmlns:a="http://schemas.openxmlformats.org/drawingml/2006/main">
              <a:ext uri="{FF2B5EF4-FFF2-40B4-BE49-F238E27FC236}">
                <a16:creationId xmlns:a16="http://schemas.microsoft.com/office/drawing/2014/main" id="{872078A8-3C30-4229-8826-9EBFE74A28D4}"/>
              </a:ext>
            </a:extLst>
          </p:cNvPr>
          <p:cNvSpPr>
            <a:spLocks xmlns:a="http://schemas.openxmlformats.org/drawingml/2006/main" noGrp="1"/>
          </p:cNvSpPr>
          <p:nvPr/>
        </p:nvSpPr>
        <p:spPr>
          <a:xfrm xmlns:a="http://schemas.openxmlformats.org/drawingml/2006/main">
            <a:off x="838200" y="1685925"/>
            <a:ext cx="105156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FAF6F0"/>
                </a:solidFill>
                <a:latin typeface="Arial"/>
                <a:ea typeface="Arial"/>
                <a:cs typeface="Arial"/>
              </a:defRPr>
            </a:pPr>
            <a:r>
              <a:rPr sz="4275" b="1">
                <a:solidFill>
                  <a:srgbClr val="FAF6F0"/>
                </a:solidFill>
                <a:latin typeface="Arial"/>
                <a:ea typeface="Arial"/>
                <a:cs typeface="Arial"/>
              </a:rPr>
              <a:t>Facilitar los pedidos</a:t>
            </a:r>
          </a:p>
          <a:p xmlns:a="http://schemas.openxmlformats.org/drawingml/2006/main">
            <a:pPr algn="l">
              <a:defRPr sz="4275" b="1">
                <a:solidFill>
                  <a:srgbClr val="FAF6F0"/>
                </a:solidFill>
                <a:latin typeface="Arial"/>
                <a:ea typeface="Arial"/>
                <a:cs typeface="Arial"/>
              </a:defRPr>
            </a:pPr>
            <a:r>
              <a:rPr sz="4275" b="1">
                <a:solidFill>
                  <a:srgbClr val="FAF6F0"/>
                </a:solidFill>
                <a:latin typeface="Arial"/>
                <a:ea typeface="Arial"/>
                <a:cs typeface="Arial"/>
              </a:rPr>
              <a:t>y agilizar la atención</a:t>
            </a:r>
          </a:p>
          <a:p xmlns:a="http://schemas.openxmlformats.org/drawingml/2006/main">
            <a:pPr algn="l">
              <a:defRPr sz="4275" b="1">
                <a:solidFill>
                  <a:srgbClr val="FAF6F0"/>
                </a:solidFill>
                <a:latin typeface="Arial"/>
                <a:ea typeface="Arial"/>
                <a:cs typeface="Arial"/>
              </a:defRPr>
            </a:pPr>
            <a:r>
              <a:rPr sz="4275" b="1">
                <a:solidFill>
                  <a:srgbClr val="FAF6F0"/>
                </a:solidFill>
                <a:latin typeface="Arial"/>
                <a:ea typeface="Arial"/>
                <a:cs typeface="Arial"/>
              </a:rPr>
              <a:t>en la cafetería del campus.</a:t>
            </a:r>
          </a:p>
        </p:txBody>
      </p:sp>
      <p:sp>
        <p:nvSpPr>
          <p:cNvPr id="3" name="objective-divider">
            <a:extLst xmlns:a="http://schemas.openxmlformats.org/drawingml/2006/main">
              <a:ext uri="{FF2B5EF4-FFF2-40B4-BE49-F238E27FC236}">
                <a16:creationId xmlns:a16="http://schemas.microsoft.com/office/drawing/2014/main" id="{8728B51D-F0AA-40AF-81D9-A9FBB2745BE0}"/>
              </a:ext>
            </a:extLst>
          </p:cNvPr>
          <p:cNvSpPr>
            <a:spLocks xmlns:a="http://schemas.openxmlformats.org/drawingml/2006/main" noGrp="1"/>
          </p:cNvSpPr>
          <p:nvPr/>
        </p:nvSpPr>
        <p:spPr>
          <a:xfrm xmlns:a="http://schemas.openxmlformats.org/drawingml/2006/main">
            <a:off x="838200" y="4933950"/>
            <a:ext cx="10515600" cy="0"/>
          </a:xfrm>
          <a:prstGeom xmlns:a="http://schemas.openxmlformats.org/drawingml/2006/main" prst="line">
            <a:avLst/>
          </a:prstGeom>
          <a:noFill xmlns:a="http://schemas.openxmlformats.org/drawingml/2006/main"/>
          <a:ln xmlns:a="http://schemas.openxmlformats.org/drawingml/2006/main" w="9525">
            <a:solidFill>
              <a:srgbClr val="714838"/>
            </a:solidFill>
          </a:ln>
        </p:spPr>
      </p:sp>
      <p:sp>
        <p:nvSpPr>
          <p:cNvPr id="4" name="objective-detail">
            <a:extLst xmlns:a="http://schemas.openxmlformats.org/drawingml/2006/main">
              <a:ext uri="{FF2B5EF4-FFF2-40B4-BE49-F238E27FC236}">
                <a16:creationId xmlns:a16="http://schemas.microsoft.com/office/drawing/2014/main" id="{A03648AC-0A2C-48B4-8C35-4DB5A58ECF82}"/>
              </a:ext>
            </a:extLst>
          </p:cNvPr>
          <p:cNvSpPr>
            <a:spLocks xmlns:a="http://schemas.openxmlformats.org/drawingml/2006/main" noGrp="1"/>
          </p:cNvSpPr>
          <p:nvPr/>
        </p:nvSpPr>
        <p:spPr>
          <a:xfrm xmlns:a="http://schemas.openxmlformats.org/drawingml/2006/main">
            <a:off x="838200" y="530542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3E9DC"/>
                </a:solidFill>
                <a:latin typeface="Arial"/>
                <a:ea typeface="Arial"/>
                <a:cs typeface="Arial"/>
              </a:defRPr>
            </a:pPr>
            <a:r>
              <a:rPr sz="2100" b="0">
                <a:solidFill>
                  <a:srgbClr val="F3E9DC"/>
                </a:solidFill>
                <a:latin typeface="Arial"/>
                <a:ea typeface="Arial"/>
                <a:cs typeface="Arial"/>
              </a:rPr>
              <a:t>El usuario pide desde su dispositivo y recoge en mostrador</a:t>
            </a:r>
          </a:p>
          <a:p xmlns:a="http://schemas.openxmlformats.org/drawingml/2006/main">
            <a:pPr algn="l">
              <a:defRPr sz="2100" b="0">
                <a:solidFill>
                  <a:srgbClr val="F3E9DC"/>
                </a:solidFill>
                <a:latin typeface="Arial"/>
                <a:ea typeface="Arial"/>
                <a:cs typeface="Arial"/>
              </a:defRPr>
            </a:pPr>
            <a:r>
              <a:rPr sz="2100" b="0">
                <a:solidFill>
                  <a:srgbClr val="F3E9DC"/>
                </a:solidFill>
                <a:latin typeface="Arial"/>
                <a:ea typeface="Arial"/>
                <a:cs typeface="Arial"/>
              </a:rPr>
              <a:t>cuando la cafetería indica que su orden está lista.</a:t>
            </a:r>
          </a:p>
        </p:txBody>
      </p:sp>
      <p:sp>
        <p:nvSpPr>
          <p:cNvPr id="5" name="slide-number">
            <a:extLst xmlns:a="http://schemas.openxmlformats.org/drawingml/2006/main">
              <a:ext uri="{FF2B5EF4-FFF2-40B4-BE49-F238E27FC236}">
                <a16:creationId xmlns:a16="http://schemas.microsoft.com/office/drawing/2014/main" id="{EB0013F9-A6D8-469B-8414-5AAFBEF10F9D}"/>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FD3C3"/>
                </a:solidFill>
                <a:latin typeface="Arial"/>
                <a:ea typeface="Arial"/>
                <a:cs typeface="Arial"/>
              </a:defRPr>
            </a:pPr>
            <a:r>
              <a:rPr sz="1275" b="0">
                <a:solidFill>
                  <a:srgbClr val="DFD3C3"/>
                </a:solidFill>
                <a:latin typeface="Arial"/>
                <a:ea typeface="Arial"/>
                <a:cs typeface="Arial"/>
              </a:rPr>
              <a:t>04</a:t>
            </a:r>
          </a:p>
        </p:txBody>
      </p:sp>
    </p:spTree>
    <p:extLst>
      <p:ext uri="{BB962C8B-B14F-4D97-AF65-F5344CB8AC3E}">
        <p14:creationId xmlns:p14="http://schemas.microsoft.com/office/powerpoint/2010/main" val="1339720046"/>
      </p:ext>
    </p:extLst>
  </p:cSld>
</p:sld>
</file>

<file path=ppt/slides/slide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58DD266E-8235-48E0-B040-F895BD5F1061}"/>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SOLUCIÓN PROPUESTA</a:t>
            </a:r>
          </a:p>
        </p:txBody>
      </p:sp>
      <p:sp>
        <p:nvSpPr>
          <p:cNvPr id="2" name="slide-title">
            <a:extLst xmlns:a="http://schemas.openxmlformats.org/drawingml/2006/main">
              <a:ext uri="{FF2B5EF4-FFF2-40B4-BE49-F238E27FC236}">
                <a16:creationId xmlns:a16="http://schemas.microsoft.com/office/drawing/2014/main" id="{FE2188CA-2663-46C0-BA44-E9D873164914}"/>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Una app para pedir.</a:t>
            </a:r>
          </a:p>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Un panel para atender.</a:t>
            </a:r>
          </a:p>
        </p:txBody>
      </p:sp>
      <p:sp>
        <p:nvSpPr>
          <p:cNvPr id="3" name="slide-number">
            <a:extLst xmlns:a="http://schemas.openxmlformats.org/drawingml/2006/main">
              <a:ext uri="{FF2B5EF4-FFF2-40B4-BE49-F238E27FC236}">
                <a16:creationId xmlns:a16="http://schemas.microsoft.com/office/drawing/2014/main" id="{F18C34B2-851E-426E-B51F-F81D8D4DB015}"/>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05</a:t>
            </a:r>
          </a:p>
        </p:txBody>
      </p:sp>
      <p:sp>
        <p:nvSpPr>
          <p:cNvPr id="4" name="solution-line-left">
            <a:extLst xmlns:a="http://schemas.openxmlformats.org/drawingml/2006/main">
              <a:ext uri="{FF2B5EF4-FFF2-40B4-BE49-F238E27FC236}">
                <a16:creationId xmlns:a16="http://schemas.microsoft.com/office/drawing/2014/main" id="{8C7AB5E0-19ED-4B4A-A762-3234DD903BC6}"/>
              </a:ext>
            </a:extLst>
          </p:cNvPr>
          <p:cNvSpPr>
            <a:spLocks xmlns:a="http://schemas.openxmlformats.org/drawingml/2006/main" noGrp="1"/>
          </p:cNvSpPr>
          <p:nvPr/>
        </p:nvSpPr>
        <p:spPr>
          <a:xfrm xmlns:a="http://schemas.openxmlformats.org/drawingml/2006/main">
            <a:off x="838200" y="2809875"/>
            <a:ext cx="4838700" cy="0"/>
          </a:xfrm>
          <a:prstGeom xmlns:a="http://schemas.openxmlformats.org/drawingml/2006/main" prst="line">
            <a:avLst/>
          </a:prstGeom>
          <a:noFill xmlns:a="http://schemas.openxmlformats.org/drawingml/2006/main"/>
          <a:ln xmlns:a="http://schemas.openxmlformats.org/drawingml/2006/main" w="9525">
            <a:solidFill>
              <a:srgbClr val="714838"/>
            </a:solidFill>
          </a:ln>
        </p:spPr>
      </p:sp>
      <p:sp>
        <p:nvSpPr>
          <p:cNvPr id="5" name="solution-line-right">
            <a:extLst xmlns:a="http://schemas.openxmlformats.org/drawingml/2006/main">
              <a:ext uri="{FF2B5EF4-FFF2-40B4-BE49-F238E27FC236}">
                <a16:creationId xmlns:a16="http://schemas.microsoft.com/office/drawing/2014/main" id="{2C6ACF79-4DFF-4DCD-8970-6B1B68C4FF52}"/>
              </a:ext>
            </a:extLst>
          </p:cNvPr>
          <p:cNvSpPr>
            <a:spLocks xmlns:a="http://schemas.openxmlformats.org/drawingml/2006/main" noGrp="1"/>
          </p:cNvSpPr>
          <p:nvPr/>
        </p:nvSpPr>
        <p:spPr>
          <a:xfrm xmlns:a="http://schemas.openxmlformats.org/drawingml/2006/main">
            <a:off x="6534150" y="2809875"/>
            <a:ext cx="4819650" cy="0"/>
          </a:xfrm>
          <a:prstGeom xmlns:a="http://schemas.openxmlformats.org/drawingml/2006/main" prst="line">
            <a:avLst/>
          </a:prstGeom>
          <a:noFill xmlns:a="http://schemas.openxmlformats.org/drawingml/2006/main"/>
          <a:ln xmlns:a="http://schemas.openxmlformats.org/drawingml/2006/main" w="9525">
            <a:solidFill>
              <a:srgbClr val="714838"/>
            </a:solidFill>
          </a:ln>
        </p:spPr>
      </p:sp>
      <p:sp>
        <p:nvSpPr>
          <p:cNvPr id="6" name="solution-client">
            <a:extLst xmlns:a="http://schemas.openxmlformats.org/drawingml/2006/main">
              <a:ext uri="{FF2B5EF4-FFF2-40B4-BE49-F238E27FC236}">
                <a16:creationId xmlns:a16="http://schemas.microsoft.com/office/drawing/2014/main" id="{983C22A3-16E2-4E95-84ED-FDB50A4C8D9A}"/>
              </a:ext>
            </a:extLst>
          </p:cNvPr>
          <p:cNvSpPr>
            <a:spLocks xmlns:a="http://schemas.openxmlformats.org/drawingml/2006/main" noGrp="1"/>
          </p:cNvSpPr>
          <p:nvPr/>
        </p:nvSpPr>
        <p:spPr>
          <a:xfrm xmlns:a="http://schemas.openxmlformats.org/drawingml/2006/main">
            <a:off x="838200" y="3057525"/>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3B2318"/>
                </a:solidFill>
                <a:latin typeface="Arial"/>
                <a:ea typeface="Arial"/>
                <a:cs typeface="Arial"/>
              </a:defRPr>
            </a:pPr>
            <a:r>
              <a:rPr sz="2550" b="1">
                <a:solidFill>
                  <a:srgbClr val="3B2318"/>
                </a:solidFill>
                <a:latin typeface="Arial"/>
                <a:ea typeface="Arial"/>
                <a:cs typeface="Arial"/>
              </a:rPr>
              <a:t>Cliente</a:t>
            </a:r>
          </a:p>
        </p:txBody>
      </p:sp>
      <p:sp>
        <p:nvSpPr>
          <p:cNvPr id="7" name="solution-client-body">
            <a:extLst xmlns:a="http://schemas.openxmlformats.org/drawingml/2006/main">
              <a:ext uri="{FF2B5EF4-FFF2-40B4-BE49-F238E27FC236}">
                <a16:creationId xmlns:a16="http://schemas.microsoft.com/office/drawing/2014/main" id="{783FF913-9261-424F-AAB6-D0E01DA2E764}"/>
              </a:ext>
            </a:extLst>
          </p:cNvPr>
          <p:cNvSpPr>
            <a:spLocks xmlns:a="http://schemas.openxmlformats.org/drawingml/2006/main" noGrp="1"/>
          </p:cNvSpPr>
          <p:nvPr/>
        </p:nvSpPr>
        <p:spPr>
          <a:xfrm xmlns:a="http://schemas.openxmlformats.org/drawingml/2006/main">
            <a:off x="838200" y="3724275"/>
            <a:ext cx="4953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Consulta el menú y personaliza</a:t>
            </a:r>
          </a:p>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su pedido desde el celular</a:t>
            </a:r>
          </a:p>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o el navegador.</a:t>
            </a:r>
          </a:p>
        </p:txBody>
      </p:sp>
      <p:sp>
        <p:nvSpPr>
          <p:cNvPr id="8" name="solution-staff">
            <a:extLst xmlns:a="http://schemas.openxmlformats.org/drawingml/2006/main">
              <a:ext uri="{FF2B5EF4-FFF2-40B4-BE49-F238E27FC236}">
                <a16:creationId xmlns:a16="http://schemas.microsoft.com/office/drawing/2014/main" id="{D0D19F50-B1B7-4151-8DE7-FEAE1AF69168}"/>
              </a:ext>
            </a:extLst>
          </p:cNvPr>
          <p:cNvSpPr>
            <a:spLocks xmlns:a="http://schemas.openxmlformats.org/drawingml/2006/main" noGrp="1"/>
          </p:cNvSpPr>
          <p:nvPr/>
        </p:nvSpPr>
        <p:spPr>
          <a:xfrm xmlns:a="http://schemas.openxmlformats.org/drawingml/2006/main">
            <a:off x="6534150" y="3057525"/>
            <a:ext cx="4819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3B2318"/>
                </a:solidFill>
                <a:latin typeface="Arial"/>
                <a:ea typeface="Arial"/>
                <a:cs typeface="Arial"/>
              </a:defRPr>
            </a:pPr>
            <a:r>
              <a:rPr sz="2550" b="1">
                <a:solidFill>
                  <a:srgbClr val="3B2318"/>
                </a:solidFill>
                <a:latin typeface="Arial"/>
                <a:ea typeface="Arial"/>
                <a:cs typeface="Arial"/>
              </a:rPr>
              <a:t>Cafetería</a:t>
            </a:r>
          </a:p>
        </p:txBody>
      </p:sp>
      <p:sp>
        <p:nvSpPr>
          <p:cNvPr id="9" name="solution-staff-body">
            <a:extLst xmlns:a="http://schemas.openxmlformats.org/drawingml/2006/main">
              <a:ext uri="{FF2B5EF4-FFF2-40B4-BE49-F238E27FC236}">
                <a16:creationId xmlns:a16="http://schemas.microsoft.com/office/drawing/2014/main" id="{B1CD3C2D-A970-46F9-91D9-AC41EA5555A4}"/>
              </a:ext>
            </a:extLst>
          </p:cNvPr>
          <p:cNvSpPr>
            <a:spLocks xmlns:a="http://schemas.openxmlformats.org/drawingml/2006/main" noGrp="1"/>
          </p:cNvSpPr>
          <p:nvPr/>
        </p:nvSpPr>
        <p:spPr>
          <a:xfrm xmlns:a="http://schemas.openxmlformats.org/drawingml/2006/main">
            <a:off x="6534150" y="3724275"/>
            <a:ext cx="4953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Recibe las órdenes, organiza</a:t>
            </a:r>
          </a:p>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su preparación y actualiza</a:t>
            </a:r>
          </a:p>
          <a:p xmlns:a="http://schemas.openxmlformats.org/drawingml/2006/main">
            <a:pPr algn="l">
              <a:defRPr sz="2175" b="0">
                <a:solidFill>
                  <a:srgbClr val="1B1512"/>
                </a:solidFill>
                <a:latin typeface="Arial"/>
                <a:ea typeface="Arial"/>
                <a:cs typeface="Arial"/>
              </a:defRPr>
            </a:pPr>
            <a:r>
              <a:rPr sz="2175" b="0">
                <a:solidFill>
                  <a:srgbClr val="1B1512"/>
                </a:solidFill>
                <a:latin typeface="Arial"/>
                <a:ea typeface="Arial"/>
                <a:cs typeface="Arial"/>
              </a:rPr>
              <a:t>el estado hasta la entrega.</a:t>
            </a:r>
          </a:p>
        </p:txBody>
      </p:sp>
      <p:sp>
        <p:nvSpPr>
          <p:cNvPr id="10" name="solution-scope">
            <a:extLst xmlns:a="http://schemas.openxmlformats.org/drawingml/2006/main">
              <a:ext uri="{FF2B5EF4-FFF2-40B4-BE49-F238E27FC236}">
                <a16:creationId xmlns:a16="http://schemas.microsoft.com/office/drawing/2014/main" id="{DD119680-DE79-4E55-83AC-4DA4D6CA2E45}"/>
              </a:ext>
            </a:extLst>
          </p:cNvPr>
          <p:cNvSpPr>
            <a:spLocks xmlns:a="http://schemas.openxmlformats.org/drawingml/2006/main" noGrp="1"/>
          </p:cNvSpPr>
          <p:nvPr/>
        </p:nvSpPr>
        <p:spPr>
          <a:xfrm xmlns:a="http://schemas.openxmlformats.org/drawingml/2006/main">
            <a:off x="838200" y="5476875"/>
            <a:ext cx="1051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Los pedidos se habilitan dentro del campus y con la cafetería abierta.</a:t>
            </a:r>
          </a:p>
        </p:txBody>
      </p:sp>
    </p:spTree>
    <p:extLst>
      <p:ext uri="{BB962C8B-B14F-4D97-AF65-F5344CB8AC3E}">
        <p14:creationId xmlns:p14="http://schemas.microsoft.com/office/powerpoint/2010/main" val="17378977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4B3BF530-61F4-43D8-B14B-17CF957A13A2}"/>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DEMOSTRACIÓN DEL CLIENTE</a:t>
            </a:r>
          </a:p>
        </p:txBody>
      </p:sp>
      <p:sp>
        <p:nvSpPr>
          <p:cNvPr id="2" name="slide-title">
            <a:extLst xmlns:a="http://schemas.openxmlformats.org/drawingml/2006/main">
              <a:ext uri="{FF2B5EF4-FFF2-40B4-BE49-F238E27FC236}">
                <a16:creationId xmlns:a16="http://schemas.microsoft.com/office/drawing/2014/main" id="{D5FCF1E1-1C6D-4D4D-90F4-6E91F684ECCB}"/>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Del menú al número de pedido</a:t>
            </a:r>
          </a:p>
        </p:txBody>
      </p:sp>
      <p:sp>
        <p:nvSpPr>
          <p:cNvPr id="3" name="slide-number">
            <a:extLst xmlns:a="http://schemas.openxmlformats.org/drawingml/2006/main">
              <a:ext uri="{FF2B5EF4-FFF2-40B4-BE49-F238E27FC236}">
                <a16:creationId xmlns:a16="http://schemas.microsoft.com/office/drawing/2014/main" id="{28E9F1CD-1566-4D63-B734-704BB99D3443}"/>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06</a:t>
            </a:r>
          </a:p>
        </p:txBody>
      </p:sp>
      <p:sp>
        <p:nvSpPr>
          <p:cNvPr id="4" name="client-step-0">
            <a:extLst xmlns:a="http://schemas.openxmlformats.org/drawingml/2006/main">
              <a:ext uri="{FF2B5EF4-FFF2-40B4-BE49-F238E27FC236}">
                <a16:creationId xmlns:a16="http://schemas.microsoft.com/office/drawing/2014/main" id="{34D4BD27-B480-4F29-9192-23637152A83F}"/>
              </a:ext>
            </a:extLst>
          </p:cNvPr>
          <p:cNvSpPr>
            <a:spLocks xmlns:a="http://schemas.openxmlformats.org/drawingml/2006/main" noGrp="1"/>
          </p:cNvSpPr>
          <p:nvPr/>
        </p:nvSpPr>
        <p:spPr>
          <a:xfrm xmlns:a="http://schemas.openxmlformats.org/drawingml/2006/main">
            <a:off x="838200" y="2305050"/>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714838"/>
                </a:solidFill>
                <a:latin typeface="Arial"/>
                <a:ea typeface="Arial"/>
                <a:cs typeface="Arial"/>
              </a:defRPr>
            </a:pPr>
            <a:r>
              <a:rPr sz="2625" b="0">
                <a:solidFill>
                  <a:srgbClr val="714838"/>
                </a:solidFill>
                <a:latin typeface="Arial"/>
                <a:ea typeface="Arial"/>
                <a:cs typeface="Arial"/>
              </a:rPr>
              <a:t>01</a:t>
            </a:r>
          </a:p>
        </p:txBody>
      </p:sp>
      <p:sp>
        <p:nvSpPr>
          <p:cNvPr id="5" name="client-action-0">
            <a:extLst xmlns:a="http://schemas.openxmlformats.org/drawingml/2006/main">
              <a:ext uri="{FF2B5EF4-FFF2-40B4-BE49-F238E27FC236}">
                <a16:creationId xmlns:a16="http://schemas.microsoft.com/office/drawing/2014/main" id="{619C2BAA-9B94-49E0-8EE3-141D13187CB0}"/>
              </a:ext>
            </a:extLst>
          </p:cNvPr>
          <p:cNvSpPr>
            <a:spLocks xmlns:a="http://schemas.openxmlformats.org/drawingml/2006/main" noGrp="1"/>
          </p:cNvSpPr>
          <p:nvPr/>
        </p:nvSpPr>
        <p:spPr>
          <a:xfrm xmlns:a="http://schemas.openxmlformats.org/drawingml/2006/main">
            <a:off x="1962150" y="2343150"/>
            <a:ext cx="2162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B2318"/>
                </a:solidFill>
                <a:latin typeface="Arial"/>
                <a:ea typeface="Arial"/>
                <a:cs typeface="Arial"/>
              </a:defRPr>
            </a:pPr>
            <a:r>
              <a:rPr sz="2175" b="1">
                <a:solidFill>
                  <a:srgbClr val="3B2318"/>
                </a:solidFill>
                <a:latin typeface="Arial"/>
                <a:ea typeface="Arial"/>
                <a:cs typeface="Arial"/>
              </a:rPr>
              <a:t>Elegir</a:t>
            </a:r>
          </a:p>
        </p:txBody>
      </p:sp>
      <p:sp>
        <p:nvSpPr>
          <p:cNvPr id="6" name="client-detail-0">
            <a:extLst xmlns:a="http://schemas.openxmlformats.org/drawingml/2006/main">
              <a:ext uri="{FF2B5EF4-FFF2-40B4-BE49-F238E27FC236}">
                <a16:creationId xmlns:a16="http://schemas.microsoft.com/office/drawing/2014/main" id="{A00B056C-9DD9-4B06-91CB-2A1ACF12F573}"/>
              </a:ext>
            </a:extLst>
          </p:cNvPr>
          <p:cNvSpPr>
            <a:spLocks xmlns:a="http://schemas.openxmlformats.org/drawingml/2006/main" noGrp="1"/>
          </p:cNvSpPr>
          <p:nvPr/>
        </p:nvSpPr>
        <p:spPr>
          <a:xfrm xmlns:a="http://schemas.openxmlformats.org/drawingml/2006/main">
            <a:off x="4810125" y="2352675"/>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1512"/>
                </a:solidFill>
                <a:latin typeface="Arial"/>
                <a:ea typeface="Arial"/>
                <a:cs typeface="Arial"/>
              </a:defRPr>
            </a:pPr>
            <a:r>
              <a:rPr sz="1950" b="0">
                <a:solidFill>
                  <a:srgbClr val="1B1512"/>
                </a:solidFill>
                <a:latin typeface="Arial"/>
                <a:ea typeface="Arial"/>
                <a:cs typeface="Arial"/>
              </a:rPr>
              <a:t>Consultar el menú y personalizar un producto.</a:t>
            </a:r>
          </a:p>
        </p:txBody>
      </p:sp>
      <p:sp>
        <p:nvSpPr>
          <p:cNvPr id="7" name="client-divider-0">
            <a:extLst xmlns:a="http://schemas.openxmlformats.org/drawingml/2006/main">
              <a:ext uri="{FF2B5EF4-FFF2-40B4-BE49-F238E27FC236}">
                <a16:creationId xmlns:a16="http://schemas.microsoft.com/office/drawing/2014/main" id="{8FF96FDA-BA2B-403F-9DB4-83AF8ACB9C99}"/>
              </a:ext>
            </a:extLst>
          </p:cNvPr>
          <p:cNvSpPr>
            <a:spLocks xmlns:a="http://schemas.openxmlformats.org/drawingml/2006/main" noGrp="1"/>
          </p:cNvSpPr>
          <p:nvPr/>
        </p:nvSpPr>
        <p:spPr>
          <a:xfrm xmlns:a="http://schemas.openxmlformats.org/drawingml/2006/main">
            <a:off x="1962150" y="2933700"/>
            <a:ext cx="93916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8" name="client-step-1">
            <a:extLst xmlns:a="http://schemas.openxmlformats.org/drawingml/2006/main">
              <a:ext uri="{FF2B5EF4-FFF2-40B4-BE49-F238E27FC236}">
                <a16:creationId xmlns:a16="http://schemas.microsoft.com/office/drawing/2014/main" id="{6ECC7207-3A1B-41CA-A0F4-1B15DCCDFF24}"/>
              </a:ext>
            </a:extLst>
          </p:cNvPr>
          <p:cNvSpPr>
            <a:spLocks xmlns:a="http://schemas.openxmlformats.org/drawingml/2006/main" noGrp="1"/>
          </p:cNvSpPr>
          <p:nvPr/>
        </p:nvSpPr>
        <p:spPr>
          <a:xfrm xmlns:a="http://schemas.openxmlformats.org/drawingml/2006/main">
            <a:off x="838200" y="3152775"/>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714838"/>
                </a:solidFill>
                <a:latin typeface="Arial"/>
                <a:ea typeface="Arial"/>
                <a:cs typeface="Arial"/>
              </a:defRPr>
            </a:pPr>
            <a:r>
              <a:rPr sz="2625" b="0">
                <a:solidFill>
                  <a:srgbClr val="714838"/>
                </a:solidFill>
                <a:latin typeface="Arial"/>
                <a:ea typeface="Arial"/>
                <a:cs typeface="Arial"/>
              </a:rPr>
              <a:t>02</a:t>
            </a:r>
          </a:p>
        </p:txBody>
      </p:sp>
      <p:sp>
        <p:nvSpPr>
          <p:cNvPr id="9" name="client-action-1">
            <a:extLst xmlns:a="http://schemas.openxmlformats.org/drawingml/2006/main">
              <a:ext uri="{FF2B5EF4-FFF2-40B4-BE49-F238E27FC236}">
                <a16:creationId xmlns:a16="http://schemas.microsoft.com/office/drawing/2014/main" id="{3BBAC439-A71B-40F8-ACFD-83557F59879B}"/>
              </a:ext>
            </a:extLst>
          </p:cNvPr>
          <p:cNvSpPr>
            <a:spLocks xmlns:a="http://schemas.openxmlformats.org/drawingml/2006/main" noGrp="1"/>
          </p:cNvSpPr>
          <p:nvPr/>
        </p:nvSpPr>
        <p:spPr>
          <a:xfrm xmlns:a="http://schemas.openxmlformats.org/drawingml/2006/main">
            <a:off x="1962150" y="3190875"/>
            <a:ext cx="2162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B2318"/>
                </a:solidFill>
                <a:latin typeface="Arial"/>
                <a:ea typeface="Arial"/>
                <a:cs typeface="Arial"/>
              </a:defRPr>
            </a:pPr>
            <a:r>
              <a:rPr sz="2175" b="1">
                <a:solidFill>
                  <a:srgbClr val="3B2318"/>
                </a:solidFill>
                <a:latin typeface="Arial"/>
                <a:ea typeface="Arial"/>
                <a:cs typeface="Arial"/>
              </a:rPr>
              <a:t>Revisar</a:t>
            </a:r>
          </a:p>
        </p:txBody>
      </p:sp>
      <p:sp>
        <p:nvSpPr>
          <p:cNvPr id="10" name="client-detail-1">
            <a:extLst xmlns:a="http://schemas.openxmlformats.org/drawingml/2006/main">
              <a:ext uri="{FF2B5EF4-FFF2-40B4-BE49-F238E27FC236}">
                <a16:creationId xmlns:a16="http://schemas.microsoft.com/office/drawing/2014/main" id="{DEEB9C4E-155E-4406-AD34-F86867753E24}"/>
              </a:ext>
            </a:extLst>
          </p:cNvPr>
          <p:cNvSpPr>
            <a:spLocks xmlns:a="http://schemas.openxmlformats.org/drawingml/2006/main" noGrp="1"/>
          </p:cNvSpPr>
          <p:nvPr/>
        </p:nvSpPr>
        <p:spPr>
          <a:xfrm xmlns:a="http://schemas.openxmlformats.org/drawingml/2006/main">
            <a:off x="4810125" y="320040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1512"/>
                </a:solidFill>
                <a:latin typeface="Arial"/>
                <a:ea typeface="Arial"/>
                <a:cs typeface="Arial"/>
              </a:defRPr>
            </a:pPr>
            <a:r>
              <a:rPr sz="1950" b="0">
                <a:solidFill>
                  <a:srgbClr val="1B1512"/>
                </a:solidFill>
                <a:latin typeface="Arial"/>
                <a:ea typeface="Arial"/>
                <a:cs typeface="Arial"/>
              </a:rPr>
              <a:t>Confirmar los artículos y el total en el carrito.</a:t>
            </a:r>
          </a:p>
        </p:txBody>
      </p:sp>
      <p:sp>
        <p:nvSpPr>
          <p:cNvPr id="11" name="client-divider-1">
            <a:extLst xmlns:a="http://schemas.openxmlformats.org/drawingml/2006/main">
              <a:ext uri="{FF2B5EF4-FFF2-40B4-BE49-F238E27FC236}">
                <a16:creationId xmlns:a16="http://schemas.microsoft.com/office/drawing/2014/main" id="{6AD6E46D-53A3-4A0F-ADB0-A2E70926A44F}"/>
              </a:ext>
            </a:extLst>
          </p:cNvPr>
          <p:cNvSpPr>
            <a:spLocks xmlns:a="http://schemas.openxmlformats.org/drawingml/2006/main" noGrp="1"/>
          </p:cNvSpPr>
          <p:nvPr/>
        </p:nvSpPr>
        <p:spPr>
          <a:xfrm xmlns:a="http://schemas.openxmlformats.org/drawingml/2006/main">
            <a:off x="1962150" y="3781425"/>
            <a:ext cx="93916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2" name="client-step-2">
            <a:extLst xmlns:a="http://schemas.openxmlformats.org/drawingml/2006/main">
              <a:ext uri="{FF2B5EF4-FFF2-40B4-BE49-F238E27FC236}">
                <a16:creationId xmlns:a16="http://schemas.microsoft.com/office/drawing/2014/main" id="{5DAA55D5-7B57-4B06-B3A7-912E102D550F}"/>
              </a:ext>
            </a:extLst>
          </p:cNvPr>
          <p:cNvSpPr>
            <a:spLocks xmlns:a="http://schemas.openxmlformats.org/drawingml/2006/main" noGrp="1"/>
          </p:cNvSpPr>
          <p:nvPr/>
        </p:nvSpPr>
        <p:spPr>
          <a:xfrm xmlns:a="http://schemas.openxmlformats.org/drawingml/2006/main">
            <a:off x="838200" y="4000500"/>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714838"/>
                </a:solidFill>
                <a:latin typeface="Arial"/>
                <a:ea typeface="Arial"/>
                <a:cs typeface="Arial"/>
              </a:defRPr>
            </a:pPr>
            <a:r>
              <a:rPr sz="2625" b="0">
                <a:solidFill>
                  <a:srgbClr val="714838"/>
                </a:solidFill>
                <a:latin typeface="Arial"/>
                <a:ea typeface="Arial"/>
                <a:cs typeface="Arial"/>
              </a:rPr>
              <a:t>03</a:t>
            </a:r>
          </a:p>
        </p:txBody>
      </p:sp>
      <p:sp>
        <p:nvSpPr>
          <p:cNvPr id="13" name="client-action-2">
            <a:extLst xmlns:a="http://schemas.openxmlformats.org/drawingml/2006/main">
              <a:ext uri="{FF2B5EF4-FFF2-40B4-BE49-F238E27FC236}">
                <a16:creationId xmlns:a16="http://schemas.microsoft.com/office/drawing/2014/main" id="{9F2977A3-81E2-4172-8DFE-06EC6080D8C2}"/>
              </a:ext>
            </a:extLst>
          </p:cNvPr>
          <p:cNvSpPr>
            <a:spLocks xmlns:a="http://schemas.openxmlformats.org/drawingml/2006/main" noGrp="1"/>
          </p:cNvSpPr>
          <p:nvPr/>
        </p:nvSpPr>
        <p:spPr>
          <a:xfrm xmlns:a="http://schemas.openxmlformats.org/drawingml/2006/main">
            <a:off x="1962150" y="4038600"/>
            <a:ext cx="2162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B2318"/>
                </a:solidFill>
                <a:latin typeface="Arial"/>
                <a:ea typeface="Arial"/>
                <a:cs typeface="Arial"/>
              </a:defRPr>
            </a:pPr>
            <a:r>
              <a:rPr sz="2175" b="1">
                <a:solidFill>
                  <a:srgbClr val="3B2318"/>
                </a:solidFill>
                <a:latin typeface="Arial"/>
                <a:ea typeface="Arial"/>
                <a:cs typeface="Arial"/>
              </a:rPr>
              <a:t>Validar</a:t>
            </a:r>
          </a:p>
        </p:txBody>
      </p:sp>
      <p:sp>
        <p:nvSpPr>
          <p:cNvPr id="14" name="client-detail-2">
            <a:extLst xmlns:a="http://schemas.openxmlformats.org/drawingml/2006/main">
              <a:ext uri="{FF2B5EF4-FFF2-40B4-BE49-F238E27FC236}">
                <a16:creationId xmlns:a16="http://schemas.microsoft.com/office/drawing/2014/main" id="{7D7638C4-8565-4BB6-A0E0-5B2E5578839B}"/>
              </a:ext>
            </a:extLst>
          </p:cNvPr>
          <p:cNvSpPr>
            <a:spLocks xmlns:a="http://schemas.openxmlformats.org/drawingml/2006/main" noGrp="1"/>
          </p:cNvSpPr>
          <p:nvPr/>
        </p:nvSpPr>
        <p:spPr>
          <a:xfrm xmlns:a="http://schemas.openxmlformats.org/drawingml/2006/main">
            <a:off x="4810125" y="4048125"/>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1512"/>
                </a:solidFill>
                <a:latin typeface="Arial"/>
                <a:ea typeface="Arial"/>
                <a:cs typeface="Arial"/>
              </a:defRPr>
            </a:pPr>
            <a:r>
              <a:rPr sz="1950" b="0">
                <a:solidFill>
                  <a:srgbClr val="1B1512"/>
                </a:solidFill>
                <a:latin typeface="Arial"/>
                <a:ea typeface="Arial"/>
                <a:cs typeface="Arial"/>
              </a:rPr>
              <a:t>Autorizar la ubicación para comprobar el campus.</a:t>
            </a:r>
          </a:p>
        </p:txBody>
      </p:sp>
      <p:sp>
        <p:nvSpPr>
          <p:cNvPr id="15" name="client-divider-2">
            <a:extLst xmlns:a="http://schemas.openxmlformats.org/drawingml/2006/main">
              <a:ext uri="{FF2B5EF4-FFF2-40B4-BE49-F238E27FC236}">
                <a16:creationId xmlns:a16="http://schemas.microsoft.com/office/drawing/2014/main" id="{9D536DA9-9614-49D1-9895-8097C8EB1FEE}"/>
              </a:ext>
            </a:extLst>
          </p:cNvPr>
          <p:cNvSpPr>
            <a:spLocks xmlns:a="http://schemas.openxmlformats.org/drawingml/2006/main" noGrp="1"/>
          </p:cNvSpPr>
          <p:nvPr/>
        </p:nvSpPr>
        <p:spPr>
          <a:xfrm xmlns:a="http://schemas.openxmlformats.org/drawingml/2006/main">
            <a:off x="1962150" y="4629150"/>
            <a:ext cx="93916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6" name="client-step-3">
            <a:extLst xmlns:a="http://schemas.openxmlformats.org/drawingml/2006/main">
              <a:ext uri="{FF2B5EF4-FFF2-40B4-BE49-F238E27FC236}">
                <a16:creationId xmlns:a16="http://schemas.microsoft.com/office/drawing/2014/main" id="{F7CD0EAD-BD8E-4B03-9498-5615A3E788AF}"/>
              </a:ext>
            </a:extLst>
          </p:cNvPr>
          <p:cNvSpPr>
            <a:spLocks xmlns:a="http://schemas.openxmlformats.org/drawingml/2006/main" noGrp="1"/>
          </p:cNvSpPr>
          <p:nvPr/>
        </p:nvSpPr>
        <p:spPr>
          <a:xfrm xmlns:a="http://schemas.openxmlformats.org/drawingml/2006/main">
            <a:off x="838200" y="4848225"/>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714838"/>
                </a:solidFill>
                <a:latin typeface="Arial"/>
                <a:ea typeface="Arial"/>
                <a:cs typeface="Arial"/>
              </a:defRPr>
            </a:pPr>
            <a:r>
              <a:rPr sz="2625" b="0">
                <a:solidFill>
                  <a:srgbClr val="714838"/>
                </a:solidFill>
                <a:latin typeface="Arial"/>
                <a:ea typeface="Arial"/>
                <a:cs typeface="Arial"/>
              </a:rPr>
              <a:t>04</a:t>
            </a:r>
          </a:p>
        </p:txBody>
      </p:sp>
      <p:sp>
        <p:nvSpPr>
          <p:cNvPr id="17" name="client-action-3">
            <a:extLst xmlns:a="http://schemas.openxmlformats.org/drawingml/2006/main">
              <a:ext uri="{FF2B5EF4-FFF2-40B4-BE49-F238E27FC236}">
                <a16:creationId xmlns:a16="http://schemas.microsoft.com/office/drawing/2014/main" id="{014B2654-9524-4C70-B3E0-589322DFFB45}"/>
              </a:ext>
            </a:extLst>
          </p:cNvPr>
          <p:cNvSpPr>
            <a:spLocks xmlns:a="http://schemas.openxmlformats.org/drawingml/2006/main" noGrp="1"/>
          </p:cNvSpPr>
          <p:nvPr/>
        </p:nvSpPr>
        <p:spPr>
          <a:xfrm xmlns:a="http://schemas.openxmlformats.org/drawingml/2006/main">
            <a:off x="1962150" y="4886325"/>
            <a:ext cx="2162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B2318"/>
                </a:solidFill>
                <a:latin typeface="Arial"/>
                <a:ea typeface="Arial"/>
                <a:cs typeface="Arial"/>
              </a:defRPr>
            </a:pPr>
            <a:r>
              <a:rPr sz="2175" b="1">
                <a:solidFill>
                  <a:srgbClr val="3B2318"/>
                </a:solidFill>
                <a:latin typeface="Arial"/>
                <a:ea typeface="Arial"/>
                <a:cs typeface="Arial"/>
              </a:rPr>
              <a:t>Generar</a:t>
            </a:r>
          </a:p>
        </p:txBody>
      </p:sp>
      <p:sp>
        <p:nvSpPr>
          <p:cNvPr id="18" name="client-detail-3">
            <a:extLst xmlns:a="http://schemas.openxmlformats.org/drawingml/2006/main">
              <a:ext uri="{FF2B5EF4-FFF2-40B4-BE49-F238E27FC236}">
                <a16:creationId xmlns:a16="http://schemas.microsoft.com/office/drawing/2014/main" id="{A792CC0D-507E-40C7-82D3-1F7E334B020D}"/>
              </a:ext>
            </a:extLst>
          </p:cNvPr>
          <p:cNvSpPr>
            <a:spLocks xmlns:a="http://schemas.openxmlformats.org/drawingml/2006/main" noGrp="1"/>
          </p:cNvSpPr>
          <p:nvPr/>
        </p:nvSpPr>
        <p:spPr>
          <a:xfrm xmlns:a="http://schemas.openxmlformats.org/drawingml/2006/main">
            <a:off x="4810125" y="489585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1512"/>
                </a:solidFill>
                <a:latin typeface="Arial"/>
                <a:ea typeface="Arial"/>
                <a:cs typeface="Arial"/>
              </a:defRPr>
            </a:pPr>
            <a:r>
              <a:rPr sz="1950" b="0">
                <a:solidFill>
                  <a:srgbClr val="1B1512"/>
                </a:solidFill>
                <a:latin typeface="Arial"/>
                <a:ea typeface="Arial"/>
                <a:cs typeface="Arial"/>
              </a:rPr>
              <a:t>Obtener el número para seguir y recoger el pedido.</a:t>
            </a:r>
          </a:p>
        </p:txBody>
      </p:sp>
    </p:spTree>
    <p:extLst>
      <p:ext uri="{BB962C8B-B14F-4D97-AF65-F5344CB8AC3E}">
        <p14:creationId xmlns:p14="http://schemas.microsoft.com/office/powerpoint/2010/main" val="1178152924"/>
      </p:ext>
    </p:extLst>
  </p:cSld>
</p:sld>
</file>

<file path=ppt/slides/slide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0EAD6C5F-7FDE-4FC6-B8A9-78EA748DD6B3}"/>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DEMOSTRACIÓN DE LA CAFETERÍA</a:t>
            </a:r>
          </a:p>
        </p:txBody>
      </p:sp>
      <p:sp>
        <p:nvSpPr>
          <p:cNvPr id="2" name="slide-title">
            <a:extLst xmlns:a="http://schemas.openxmlformats.org/drawingml/2006/main">
              <a:ext uri="{FF2B5EF4-FFF2-40B4-BE49-F238E27FC236}">
                <a16:creationId xmlns:a16="http://schemas.microsoft.com/office/drawing/2014/main" id="{612D5FC4-7E6A-432E-A175-5E932261F1B7}"/>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Cada estado orienta al cliente</a:t>
            </a:r>
          </a:p>
        </p:txBody>
      </p:sp>
      <p:sp>
        <p:nvSpPr>
          <p:cNvPr id="3" name="slide-number">
            <a:extLst xmlns:a="http://schemas.openxmlformats.org/drawingml/2006/main">
              <a:ext uri="{FF2B5EF4-FFF2-40B4-BE49-F238E27FC236}">
                <a16:creationId xmlns:a16="http://schemas.microsoft.com/office/drawing/2014/main" id="{C4CDFB99-221B-42D6-9E69-CEC02577A697}"/>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07</a:t>
            </a:r>
          </a:p>
        </p:txBody>
      </p:sp>
      <p:sp>
        <p:nvSpPr>
          <p:cNvPr id="4" name="order-step-0">
            <a:extLst xmlns:a="http://schemas.openxmlformats.org/drawingml/2006/main">
              <a:ext uri="{FF2B5EF4-FFF2-40B4-BE49-F238E27FC236}">
                <a16:creationId xmlns:a16="http://schemas.microsoft.com/office/drawing/2014/main" id="{3054F224-0182-4134-A93E-C8B57D7C89AE}"/>
              </a:ext>
            </a:extLst>
          </p:cNvPr>
          <p:cNvSpPr>
            <a:spLocks xmlns:a="http://schemas.openxmlformats.org/drawingml/2006/main" noGrp="1"/>
          </p:cNvSpPr>
          <p:nvPr/>
        </p:nvSpPr>
        <p:spPr>
          <a:xfrm xmlns:a="http://schemas.openxmlformats.org/drawingml/2006/main">
            <a:off x="838200" y="2466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714838"/>
                </a:solidFill>
                <a:latin typeface="Arial"/>
                <a:ea typeface="Arial"/>
                <a:cs typeface="Arial"/>
              </a:defRPr>
            </a:pPr>
            <a:r>
              <a:rPr sz="3150" b="0">
                <a:solidFill>
                  <a:srgbClr val="714838"/>
                </a:solidFill>
                <a:latin typeface="Arial"/>
                <a:ea typeface="Arial"/>
                <a:cs typeface="Arial"/>
              </a:rPr>
              <a:t>01</a:t>
            </a:r>
          </a:p>
        </p:txBody>
      </p:sp>
      <p:sp>
        <p:nvSpPr>
          <p:cNvPr id="5" name="order-step-rule-0">
            <a:extLst xmlns:a="http://schemas.openxmlformats.org/drawingml/2006/main">
              <a:ext uri="{FF2B5EF4-FFF2-40B4-BE49-F238E27FC236}">
                <a16:creationId xmlns:a16="http://schemas.microsoft.com/office/drawing/2014/main" id="{22F62106-C374-41B0-9333-9D81D1545F7E}"/>
              </a:ext>
            </a:extLst>
          </p:cNvPr>
          <p:cNvSpPr>
            <a:spLocks xmlns:a="http://schemas.openxmlformats.org/drawingml/2006/main" noGrp="1"/>
          </p:cNvSpPr>
          <p:nvPr/>
        </p:nvSpPr>
        <p:spPr>
          <a:xfrm xmlns:a="http://schemas.openxmlformats.org/drawingml/2006/main">
            <a:off x="838200" y="3190875"/>
            <a:ext cx="23812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6" name="order-step-title-0">
            <a:extLst xmlns:a="http://schemas.openxmlformats.org/drawingml/2006/main">
              <a:ext uri="{FF2B5EF4-FFF2-40B4-BE49-F238E27FC236}">
                <a16:creationId xmlns:a16="http://schemas.microsoft.com/office/drawing/2014/main" id="{E0B75A3A-0B6B-483E-BBDA-63FD71C6FE60}"/>
              </a:ext>
            </a:extLst>
          </p:cNvPr>
          <p:cNvSpPr>
            <a:spLocks xmlns:a="http://schemas.openxmlformats.org/drawingml/2006/main" noGrp="1"/>
          </p:cNvSpPr>
          <p:nvPr/>
        </p:nvSpPr>
        <p:spPr>
          <a:xfrm xmlns:a="http://schemas.openxmlformats.org/drawingml/2006/main">
            <a:off x="838200" y="3438525"/>
            <a:ext cx="2447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Generado</a:t>
            </a:r>
          </a:p>
        </p:txBody>
      </p:sp>
      <p:sp>
        <p:nvSpPr>
          <p:cNvPr id="7" name="order-step-body-0">
            <a:extLst xmlns:a="http://schemas.openxmlformats.org/drawingml/2006/main">
              <a:ext uri="{FF2B5EF4-FFF2-40B4-BE49-F238E27FC236}">
                <a16:creationId xmlns:a16="http://schemas.microsoft.com/office/drawing/2014/main" id="{2B558207-DA6E-467D-AA0A-5221EAC579C6}"/>
              </a:ext>
            </a:extLst>
          </p:cNvPr>
          <p:cNvSpPr>
            <a:spLocks xmlns:a="http://schemas.openxmlformats.org/drawingml/2006/main" noGrp="1"/>
          </p:cNvSpPr>
          <p:nvPr/>
        </p:nvSpPr>
        <p:spPr>
          <a:xfrm xmlns:a="http://schemas.openxmlformats.org/drawingml/2006/main">
            <a:off x="838200" y="4114800"/>
            <a:ext cx="2447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La cafetería recibe</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la nueva orden.</a:t>
            </a:r>
          </a:p>
        </p:txBody>
      </p:sp>
      <p:sp>
        <p:nvSpPr>
          <p:cNvPr id="8" name="order-step-1">
            <a:extLst xmlns:a="http://schemas.openxmlformats.org/drawingml/2006/main">
              <a:ext uri="{FF2B5EF4-FFF2-40B4-BE49-F238E27FC236}">
                <a16:creationId xmlns:a16="http://schemas.microsoft.com/office/drawing/2014/main" id="{C5CFAC5B-77CB-4513-9FB1-47C83D4B16DB}"/>
              </a:ext>
            </a:extLst>
          </p:cNvPr>
          <p:cNvSpPr>
            <a:spLocks xmlns:a="http://schemas.openxmlformats.org/drawingml/2006/main" noGrp="1"/>
          </p:cNvSpPr>
          <p:nvPr/>
        </p:nvSpPr>
        <p:spPr>
          <a:xfrm xmlns:a="http://schemas.openxmlformats.org/drawingml/2006/main">
            <a:off x="3543300" y="2466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714838"/>
                </a:solidFill>
                <a:latin typeface="Arial"/>
                <a:ea typeface="Arial"/>
                <a:cs typeface="Arial"/>
              </a:defRPr>
            </a:pPr>
            <a:r>
              <a:rPr sz="3150" b="0">
                <a:solidFill>
                  <a:srgbClr val="714838"/>
                </a:solidFill>
                <a:latin typeface="Arial"/>
                <a:ea typeface="Arial"/>
                <a:cs typeface="Arial"/>
              </a:rPr>
              <a:t>02</a:t>
            </a:r>
          </a:p>
        </p:txBody>
      </p:sp>
      <p:sp>
        <p:nvSpPr>
          <p:cNvPr id="9" name="order-step-rule-1">
            <a:extLst xmlns:a="http://schemas.openxmlformats.org/drawingml/2006/main">
              <a:ext uri="{FF2B5EF4-FFF2-40B4-BE49-F238E27FC236}">
                <a16:creationId xmlns:a16="http://schemas.microsoft.com/office/drawing/2014/main" id="{616DDD3E-7723-42FD-8E1F-55BE4478B2C6}"/>
              </a:ext>
            </a:extLst>
          </p:cNvPr>
          <p:cNvSpPr>
            <a:spLocks xmlns:a="http://schemas.openxmlformats.org/drawingml/2006/main" noGrp="1"/>
          </p:cNvSpPr>
          <p:nvPr/>
        </p:nvSpPr>
        <p:spPr>
          <a:xfrm xmlns:a="http://schemas.openxmlformats.org/drawingml/2006/main">
            <a:off x="3543300" y="3190875"/>
            <a:ext cx="23812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0" name="order-step-title-1">
            <a:extLst xmlns:a="http://schemas.openxmlformats.org/drawingml/2006/main">
              <a:ext uri="{FF2B5EF4-FFF2-40B4-BE49-F238E27FC236}">
                <a16:creationId xmlns:a16="http://schemas.microsoft.com/office/drawing/2014/main" id="{64484EF7-8596-4B7A-BE60-984D7B610A89}"/>
              </a:ext>
            </a:extLst>
          </p:cNvPr>
          <p:cNvSpPr>
            <a:spLocks xmlns:a="http://schemas.openxmlformats.org/drawingml/2006/main" noGrp="1"/>
          </p:cNvSpPr>
          <p:nvPr/>
        </p:nvSpPr>
        <p:spPr>
          <a:xfrm xmlns:a="http://schemas.openxmlformats.org/drawingml/2006/main">
            <a:off x="3543300" y="3438525"/>
            <a:ext cx="2447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En preparación</a:t>
            </a:r>
          </a:p>
        </p:txBody>
      </p:sp>
      <p:sp>
        <p:nvSpPr>
          <p:cNvPr id="11" name="order-step-body-1">
            <a:extLst xmlns:a="http://schemas.openxmlformats.org/drawingml/2006/main">
              <a:ext uri="{FF2B5EF4-FFF2-40B4-BE49-F238E27FC236}">
                <a16:creationId xmlns:a16="http://schemas.microsoft.com/office/drawing/2014/main" id="{6FECFE25-97B9-4890-A245-B7BE5334B719}"/>
              </a:ext>
            </a:extLst>
          </p:cNvPr>
          <p:cNvSpPr>
            <a:spLocks xmlns:a="http://schemas.openxmlformats.org/drawingml/2006/main" noGrp="1"/>
          </p:cNvSpPr>
          <p:nvPr/>
        </p:nvSpPr>
        <p:spPr>
          <a:xfrm xmlns:a="http://schemas.openxmlformats.org/drawingml/2006/main">
            <a:off x="3543300" y="4114800"/>
            <a:ext cx="2447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El personal trabaja</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en el pedido.</a:t>
            </a:r>
          </a:p>
        </p:txBody>
      </p:sp>
      <p:sp>
        <p:nvSpPr>
          <p:cNvPr id="12" name="order-step-2">
            <a:extLst xmlns:a="http://schemas.openxmlformats.org/drawingml/2006/main">
              <a:ext uri="{FF2B5EF4-FFF2-40B4-BE49-F238E27FC236}">
                <a16:creationId xmlns:a16="http://schemas.microsoft.com/office/drawing/2014/main" id="{AABF037B-E5A9-4DBF-B3A9-4DEAD28E2326}"/>
              </a:ext>
            </a:extLst>
          </p:cNvPr>
          <p:cNvSpPr>
            <a:spLocks xmlns:a="http://schemas.openxmlformats.org/drawingml/2006/main" noGrp="1"/>
          </p:cNvSpPr>
          <p:nvPr/>
        </p:nvSpPr>
        <p:spPr>
          <a:xfrm xmlns:a="http://schemas.openxmlformats.org/drawingml/2006/main">
            <a:off x="6248400" y="2466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714838"/>
                </a:solidFill>
                <a:latin typeface="Arial"/>
                <a:ea typeface="Arial"/>
                <a:cs typeface="Arial"/>
              </a:defRPr>
            </a:pPr>
            <a:r>
              <a:rPr sz="3150" b="0">
                <a:solidFill>
                  <a:srgbClr val="714838"/>
                </a:solidFill>
                <a:latin typeface="Arial"/>
                <a:ea typeface="Arial"/>
                <a:cs typeface="Arial"/>
              </a:rPr>
              <a:t>03</a:t>
            </a:r>
          </a:p>
        </p:txBody>
      </p:sp>
      <p:sp>
        <p:nvSpPr>
          <p:cNvPr id="13" name="order-step-rule-2">
            <a:extLst xmlns:a="http://schemas.openxmlformats.org/drawingml/2006/main">
              <a:ext uri="{FF2B5EF4-FFF2-40B4-BE49-F238E27FC236}">
                <a16:creationId xmlns:a16="http://schemas.microsoft.com/office/drawing/2014/main" id="{21F6892F-643E-4FEA-9881-BB007BB14153}"/>
              </a:ext>
            </a:extLst>
          </p:cNvPr>
          <p:cNvSpPr>
            <a:spLocks xmlns:a="http://schemas.openxmlformats.org/drawingml/2006/main" noGrp="1"/>
          </p:cNvSpPr>
          <p:nvPr/>
        </p:nvSpPr>
        <p:spPr>
          <a:xfrm xmlns:a="http://schemas.openxmlformats.org/drawingml/2006/main">
            <a:off x="6248400" y="3190875"/>
            <a:ext cx="23812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4" name="order-step-title-2">
            <a:extLst xmlns:a="http://schemas.openxmlformats.org/drawingml/2006/main">
              <a:ext uri="{FF2B5EF4-FFF2-40B4-BE49-F238E27FC236}">
                <a16:creationId xmlns:a16="http://schemas.microsoft.com/office/drawing/2014/main" id="{9E3D8757-1D37-4557-B335-D07B12118CF0}"/>
              </a:ext>
            </a:extLst>
          </p:cNvPr>
          <p:cNvSpPr>
            <a:spLocks xmlns:a="http://schemas.openxmlformats.org/drawingml/2006/main" noGrp="1"/>
          </p:cNvSpPr>
          <p:nvPr/>
        </p:nvSpPr>
        <p:spPr>
          <a:xfrm xmlns:a="http://schemas.openxmlformats.org/drawingml/2006/main">
            <a:off x="6248400" y="3438525"/>
            <a:ext cx="2447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Listo</a:t>
            </a:r>
          </a:p>
        </p:txBody>
      </p:sp>
      <p:sp>
        <p:nvSpPr>
          <p:cNvPr id="15" name="order-step-body-2">
            <a:extLst xmlns:a="http://schemas.openxmlformats.org/drawingml/2006/main">
              <a:ext uri="{FF2B5EF4-FFF2-40B4-BE49-F238E27FC236}">
                <a16:creationId xmlns:a16="http://schemas.microsoft.com/office/drawing/2014/main" id="{18149CA8-0ACD-454F-A7F0-AE23D132747B}"/>
              </a:ext>
            </a:extLst>
          </p:cNvPr>
          <p:cNvSpPr>
            <a:spLocks xmlns:a="http://schemas.openxmlformats.org/drawingml/2006/main" noGrp="1"/>
          </p:cNvSpPr>
          <p:nvPr/>
        </p:nvSpPr>
        <p:spPr>
          <a:xfrm xmlns:a="http://schemas.openxmlformats.org/drawingml/2006/main">
            <a:off x="6248400" y="4114800"/>
            <a:ext cx="2447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El cliente puede</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pasar a recoger.</a:t>
            </a:r>
          </a:p>
        </p:txBody>
      </p:sp>
      <p:sp>
        <p:nvSpPr>
          <p:cNvPr id="16" name="order-step-3">
            <a:extLst xmlns:a="http://schemas.openxmlformats.org/drawingml/2006/main">
              <a:ext uri="{FF2B5EF4-FFF2-40B4-BE49-F238E27FC236}">
                <a16:creationId xmlns:a16="http://schemas.microsoft.com/office/drawing/2014/main" id="{082DDBFB-B514-4C5E-B626-A71B4A9BD08F}"/>
              </a:ext>
            </a:extLst>
          </p:cNvPr>
          <p:cNvSpPr>
            <a:spLocks xmlns:a="http://schemas.openxmlformats.org/drawingml/2006/main" noGrp="1"/>
          </p:cNvSpPr>
          <p:nvPr/>
        </p:nvSpPr>
        <p:spPr>
          <a:xfrm xmlns:a="http://schemas.openxmlformats.org/drawingml/2006/main">
            <a:off x="8953500" y="2466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714838"/>
                </a:solidFill>
                <a:latin typeface="Arial"/>
                <a:ea typeface="Arial"/>
                <a:cs typeface="Arial"/>
              </a:defRPr>
            </a:pPr>
            <a:r>
              <a:rPr sz="3150" b="0">
                <a:solidFill>
                  <a:srgbClr val="714838"/>
                </a:solidFill>
                <a:latin typeface="Arial"/>
                <a:ea typeface="Arial"/>
                <a:cs typeface="Arial"/>
              </a:rPr>
              <a:t>04</a:t>
            </a:r>
          </a:p>
        </p:txBody>
      </p:sp>
      <p:sp>
        <p:nvSpPr>
          <p:cNvPr id="17" name="order-step-rule-3">
            <a:extLst xmlns:a="http://schemas.openxmlformats.org/drawingml/2006/main">
              <a:ext uri="{FF2B5EF4-FFF2-40B4-BE49-F238E27FC236}">
                <a16:creationId xmlns:a16="http://schemas.microsoft.com/office/drawing/2014/main" id="{73032FAD-DE36-479A-9836-E44667DEC94B}"/>
              </a:ext>
            </a:extLst>
          </p:cNvPr>
          <p:cNvSpPr>
            <a:spLocks xmlns:a="http://schemas.openxmlformats.org/drawingml/2006/main" noGrp="1"/>
          </p:cNvSpPr>
          <p:nvPr/>
        </p:nvSpPr>
        <p:spPr>
          <a:xfrm xmlns:a="http://schemas.openxmlformats.org/drawingml/2006/main">
            <a:off x="8953500" y="3190875"/>
            <a:ext cx="238125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8" name="order-step-title-3">
            <a:extLst xmlns:a="http://schemas.openxmlformats.org/drawingml/2006/main">
              <a:ext uri="{FF2B5EF4-FFF2-40B4-BE49-F238E27FC236}">
                <a16:creationId xmlns:a16="http://schemas.microsoft.com/office/drawing/2014/main" id="{57F5A4A0-D20A-43C1-965D-CF6B08196859}"/>
              </a:ext>
            </a:extLst>
          </p:cNvPr>
          <p:cNvSpPr>
            <a:spLocks xmlns:a="http://schemas.openxmlformats.org/drawingml/2006/main" noGrp="1"/>
          </p:cNvSpPr>
          <p:nvPr/>
        </p:nvSpPr>
        <p:spPr>
          <a:xfrm xmlns:a="http://schemas.openxmlformats.org/drawingml/2006/main">
            <a:off x="8953500" y="3438525"/>
            <a:ext cx="2447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B2318"/>
                </a:solidFill>
                <a:latin typeface="Arial"/>
                <a:ea typeface="Arial"/>
                <a:cs typeface="Arial"/>
              </a:defRPr>
            </a:pPr>
            <a:r>
              <a:rPr sz="2025" b="1">
                <a:solidFill>
                  <a:srgbClr val="3B2318"/>
                </a:solidFill>
                <a:latin typeface="Arial"/>
                <a:ea typeface="Arial"/>
                <a:cs typeface="Arial"/>
              </a:rPr>
              <a:t>Entregado</a:t>
            </a:r>
          </a:p>
        </p:txBody>
      </p:sp>
      <p:sp>
        <p:nvSpPr>
          <p:cNvPr id="19" name="order-step-body-3">
            <a:extLst xmlns:a="http://schemas.openxmlformats.org/drawingml/2006/main">
              <a:ext uri="{FF2B5EF4-FFF2-40B4-BE49-F238E27FC236}">
                <a16:creationId xmlns:a16="http://schemas.microsoft.com/office/drawing/2014/main" id="{3A7D9A59-BDD4-4D9D-84FD-432BE2D0CE85}"/>
              </a:ext>
            </a:extLst>
          </p:cNvPr>
          <p:cNvSpPr>
            <a:spLocks xmlns:a="http://schemas.openxmlformats.org/drawingml/2006/main" noGrp="1"/>
          </p:cNvSpPr>
          <p:nvPr/>
        </p:nvSpPr>
        <p:spPr>
          <a:xfrm xmlns:a="http://schemas.openxmlformats.org/drawingml/2006/main">
            <a:off x="8953500" y="4114800"/>
            <a:ext cx="2447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La orden queda</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en el historial.</a:t>
            </a:r>
          </a:p>
        </p:txBody>
      </p:sp>
      <p:sp>
        <p:nvSpPr>
          <p:cNvPr id="20" name="notification-limit">
            <a:extLst xmlns:a="http://schemas.openxmlformats.org/drawingml/2006/main">
              <a:ext uri="{FF2B5EF4-FFF2-40B4-BE49-F238E27FC236}">
                <a16:creationId xmlns:a16="http://schemas.microsoft.com/office/drawing/2014/main" id="{927DC7F4-B9DF-4C56-ACD8-C6BD6B939759}"/>
              </a:ext>
            </a:extLst>
          </p:cNvPr>
          <p:cNvSpPr>
            <a:spLocks xmlns:a="http://schemas.openxmlformats.org/drawingml/2006/main" noGrp="1"/>
          </p:cNvSpPr>
          <p:nvPr/>
        </p:nvSpPr>
        <p:spPr>
          <a:xfrm xmlns:a="http://schemas.openxmlformats.org/drawingml/2006/main">
            <a:off x="838200" y="5581650"/>
            <a:ext cx="1051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B2318"/>
                </a:solidFill>
                <a:latin typeface="Arial"/>
                <a:ea typeface="Arial"/>
                <a:cs typeface="Arial"/>
              </a:defRPr>
            </a:pPr>
            <a:r>
              <a:rPr sz="1875" b="1">
                <a:solidFill>
                  <a:srgbClr val="3B2318"/>
                </a:solidFill>
                <a:latin typeface="Arial"/>
                <a:ea typeface="Arial"/>
                <a:cs typeface="Arial"/>
              </a:rPr>
              <a:t>Aviso de pedido listo con la app abierta y permisos habilitados.</a:t>
            </a:r>
          </a:p>
        </p:txBody>
      </p:sp>
    </p:spTree>
    <p:extLst>
      <p:ext uri="{BB962C8B-B14F-4D97-AF65-F5344CB8AC3E}">
        <p14:creationId xmlns:p14="http://schemas.microsoft.com/office/powerpoint/2010/main" val="1640711040"/>
      </p:ext>
    </p:extLst>
  </p:cSld>
</p:sld>
</file>

<file path=ppt/slides/slide8.xml><?xml version="1.0" encoding="utf-8"?>
<p:sld xmlns:p="http://schemas.openxmlformats.org/presentationml/2006/main">
  <p:cSld>
    <p:bg>
      <p:bgPr>
        <a:solidFill xmlns:a="http://schemas.openxmlformats.org/drawingml/2006/main">
          <a:srgbClr val="F3E9DC"/>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8C437EC3-075B-463F-9BFD-35252D629598}"/>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74675E"/>
                </a:solidFill>
                <a:latin typeface="Arial"/>
                <a:ea typeface="Arial"/>
                <a:cs typeface="Arial"/>
              </a:defRPr>
            </a:pPr>
            <a:r>
              <a:rPr sz="1350" b="1">
                <a:solidFill>
                  <a:srgbClr val="74675E"/>
                </a:solidFill>
                <a:latin typeface="Arial"/>
                <a:ea typeface="Arial"/>
                <a:cs typeface="Arial"/>
              </a:rPr>
              <a:t>BENEFICIOS ESPERADOS</a:t>
            </a:r>
          </a:p>
        </p:txBody>
      </p:sp>
      <p:sp>
        <p:nvSpPr>
          <p:cNvPr id="2" name="slide-title">
            <a:extLst xmlns:a="http://schemas.openxmlformats.org/drawingml/2006/main">
              <a:ext uri="{FF2B5EF4-FFF2-40B4-BE49-F238E27FC236}">
                <a16:creationId xmlns:a16="http://schemas.microsoft.com/office/drawing/2014/main" id="{BCDF73C6-1A12-4CA9-99DE-0B1B15539046}"/>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B2318"/>
                </a:solidFill>
                <a:latin typeface="Arial"/>
                <a:ea typeface="Arial"/>
                <a:cs typeface="Arial"/>
              </a:defRPr>
            </a:pPr>
            <a:r>
              <a:rPr sz="3450" b="1">
                <a:solidFill>
                  <a:srgbClr val="3B2318"/>
                </a:solidFill>
                <a:latin typeface="Arial"/>
                <a:ea typeface="Arial"/>
                <a:cs typeface="Arial"/>
              </a:rPr>
              <a:t>Valor para la comunidad del campus</a:t>
            </a:r>
          </a:p>
        </p:txBody>
      </p:sp>
      <p:sp>
        <p:nvSpPr>
          <p:cNvPr id="3" name="slide-number">
            <a:extLst xmlns:a="http://schemas.openxmlformats.org/drawingml/2006/main">
              <a:ext uri="{FF2B5EF4-FFF2-40B4-BE49-F238E27FC236}">
                <a16:creationId xmlns:a16="http://schemas.microsoft.com/office/drawing/2014/main" id="{859A62E2-BBF6-47A6-BA7E-31DB26FD4D67}"/>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4675E"/>
                </a:solidFill>
                <a:latin typeface="Arial"/>
                <a:ea typeface="Arial"/>
                <a:cs typeface="Arial"/>
              </a:defRPr>
            </a:pPr>
            <a:r>
              <a:rPr sz="1275" b="0">
                <a:solidFill>
                  <a:srgbClr val="74675E"/>
                </a:solidFill>
                <a:latin typeface="Arial"/>
                <a:ea typeface="Arial"/>
                <a:cs typeface="Arial"/>
              </a:rPr>
              <a:t>08</a:t>
            </a:r>
          </a:p>
        </p:txBody>
      </p:sp>
      <p:sp>
        <p:nvSpPr>
          <p:cNvPr id="4" name="benefit-audience-0">
            <a:extLst xmlns:a="http://schemas.openxmlformats.org/drawingml/2006/main">
              <a:ext uri="{FF2B5EF4-FFF2-40B4-BE49-F238E27FC236}">
                <a16:creationId xmlns:a16="http://schemas.microsoft.com/office/drawing/2014/main" id="{596FFE8B-D3C6-478D-AC4F-B28F86E27382}"/>
              </a:ext>
            </a:extLst>
          </p:cNvPr>
          <p:cNvSpPr>
            <a:spLocks xmlns:a="http://schemas.openxmlformats.org/drawingml/2006/main" noGrp="1"/>
          </p:cNvSpPr>
          <p:nvPr/>
        </p:nvSpPr>
        <p:spPr>
          <a:xfrm xmlns:a="http://schemas.openxmlformats.org/drawingml/2006/main">
            <a:off x="838200" y="2581275"/>
            <a:ext cx="3267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14838"/>
                </a:solidFill>
                <a:latin typeface="Arial"/>
                <a:ea typeface="Arial"/>
                <a:cs typeface="Arial"/>
              </a:defRPr>
            </a:pPr>
            <a:r>
              <a:rPr sz="1875" b="1">
                <a:solidFill>
                  <a:srgbClr val="714838"/>
                </a:solidFill>
                <a:latin typeface="Arial"/>
                <a:ea typeface="Arial"/>
                <a:cs typeface="Arial"/>
              </a:rPr>
              <a:t>Estudiantes</a:t>
            </a:r>
          </a:p>
        </p:txBody>
      </p:sp>
      <p:sp>
        <p:nvSpPr>
          <p:cNvPr id="5" name="benefit-title-0">
            <a:extLst xmlns:a="http://schemas.openxmlformats.org/drawingml/2006/main">
              <a:ext uri="{FF2B5EF4-FFF2-40B4-BE49-F238E27FC236}">
                <a16:creationId xmlns:a16="http://schemas.microsoft.com/office/drawing/2014/main" id="{C8E921B9-A947-45DE-895C-8B53FC5E7EBF}"/>
              </a:ext>
            </a:extLst>
          </p:cNvPr>
          <p:cNvSpPr>
            <a:spLocks xmlns:a="http://schemas.openxmlformats.org/drawingml/2006/main" noGrp="1"/>
          </p:cNvSpPr>
          <p:nvPr/>
        </p:nvSpPr>
        <p:spPr>
          <a:xfrm xmlns:a="http://schemas.openxmlformats.org/drawingml/2006/main">
            <a:off x="838200" y="3228975"/>
            <a:ext cx="3324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Más claridad</a:t>
            </a:r>
          </a:p>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al pedir</a:t>
            </a:r>
          </a:p>
        </p:txBody>
      </p:sp>
      <p:sp>
        <p:nvSpPr>
          <p:cNvPr id="6" name="benefit-body-0">
            <a:extLst xmlns:a="http://schemas.openxmlformats.org/drawingml/2006/main">
              <a:ext uri="{FF2B5EF4-FFF2-40B4-BE49-F238E27FC236}">
                <a16:creationId xmlns:a16="http://schemas.microsoft.com/office/drawing/2014/main" id="{B8BE14B2-E675-4439-9A84-70515C890882}"/>
              </a:ext>
            </a:extLst>
          </p:cNvPr>
          <p:cNvSpPr>
            <a:spLocks xmlns:a="http://schemas.openxmlformats.org/drawingml/2006/main" noGrp="1"/>
          </p:cNvSpPr>
          <p:nvPr/>
        </p:nvSpPr>
        <p:spPr>
          <a:xfrm xmlns:a="http://schemas.openxmlformats.org/drawingml/2006/main">
            <a:off x="838200" y="4467225"/>
            <a:ext cx="3324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Consultar opciones y saber</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cuándo pasar por su orden.</a:t>
            </a:r>
          </a:p>
        </p:txBody>
      </p:sp>
      <p:sp>
        <p:nvSpPr>
          <p:cNvPr id="7" name="benefit-audience-1">
            <a:extLst xmlns:a="http://schemas.openxmlformats.org/drawingml/2006/main">
              <a:ext uri="{FF2B5EF4-FFF2-40B4-BE49-F238E27FC236}">
                <a16:creationId xmlns:a16="http://schemas.microsoft.com/office/drawing/2014/main" id="{3E68103A-5477-48F5-AE08-751B36EDA254}"/>
              </a:ext>
            </a:extLst>
          </p:cNvPr>
          <p:cNvSpPr>
            <a:spLocks xmlns:a="http://schemas.openxmlformats.org/drawingml/2006/main" noGrp="1"/>
          </p:cNvSpPr>
          <p:nvPr/>
        </p:nvSpPr>
        <p:spPr>
          <a:xfrm xmlns:a="http://schemas.openxmlformats.org/drawingml/2006/main">
            <a:off x="4457700" y="2581275"/>
            <a:ext cx="3267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14838"/>
                </a:solidFill>
                <a:latin typeface="Arial"/>
                <a:ea typeface="Arial"/>
                <a:cs typeface="Arial"/>
              </a:defRPr>
            </a:pPr>
            <a:r>
              <a:rPr sz="1875" b="1">
                <a:solidFill>
                  <a:srgbClr val="714838"/>
                </a:solidFill>
                <a:latin typeface="Arial"/>
                <a:ea typeface="Arial"/>
                <a:cs typeface="Arial"/>
              </a:rPr>
              <a:t>Cafetería</a:t>
            </a:r>
          </a:p>
        </p:txBody>
      </p:sp>
      <p:sp>
        <p:nvSpPr>
          <p:cNvPr id="8" name="benefit-title-1">
            <a:extLst xmlns:a="http://schemas.openxmlformats.org/drawingml/2006/main">
              <a:ext uri="{FF2B5EF4-FFF2-40B4-BE49-F238E27FC236}">
                <a16:creationId xmlns:a16="http://schemas.microsoft.com/office/drawing/2014/main" id="{CE7A7BD8-56CB-45ED-B757-B317C6285E1B}"/>
              </a:ext>
            </a:extLst>
          </p:cNvPr>
          <p:cNvSpPr>
            <a:spLocks xmlns:a="http://schemas.openxmlformats.org/drawingml/2006/main" noGrp="1"/>
          </p:cNvSpPr>
          <p:nvPr/>
        </p:nvSpPr>
        <p:spPr>
          <a:xfrm xmlns:a="http://schemas.openxmlformats.org/drawingml/2006/main">
            <a:off x="4457700" y="3228975"/>
            <a:ext cx="3324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Más control</a:t>
            </a:r>
          </a:p>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al atender</a:t>
            </a:r>
          </a:p>
        </p:txBody>
      </p:sp>
      <p:sp>
        <p:nvSpPr>
          <p:cNvPr id="9" name="benefit-body-1">
            <a:extLst xmlns:a="http://schemas.openxmlformats.org/drawingml/2006/main">
              <a:ext uri="{FF2B5EF4-FFF2-40B4-BE49-F238E27FC236}">
                <a16:creationId xmlns:a16="http://schemas.microsoft.com/office/drawing/2014/main" id="{803B6DD4-9E24-4D50-ABAA-3D5E7AD38A86}"/>
              </a:ext>
            </a:extLst>
          </p:cNvPr>
          <p:cNvSpPr>
            <a:spLocks xmlns:a="http://schemas.openxmlformats.org/drawingml/2006/main" noGrp="1"/>
          </p:cNvSpPr>
          <p:nvPr/>
        </p:nvSpPr>
        <p:spPr>
          <a:xfrm xmlns:a="http://schemas.openxmlformats.org/drawingml/2006/main">
            <a:off x="4457700" y="4467225"/>
            <a:ext cx="3324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Recibir pedidos legibles</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y seguir su preparación.</a:t>
            </a:r>
          </a:p>
        </p:txBody>
      </p:sp>
      <p:sp>
        <p:nvSpPr>
          <p:cNvPr id="10" name="benefit-audience-2">
            <a:extLst xmlns:a="http://schemas.openxmlformats.org/drawingml/2006/main">
              <a:ext uri="{FF2B5EF4-FFF2-40B4-BE49-F238E27FC236}">
                <a16:creationId xmlns:a16="http://schemas.microsoft.com/office/drawing/2014/main" id="{5619458E-4AD8-43FE-B2BD-7AC2D821DE9C}"/>
              </a:ext>
            </a:extLst>
          </p:cNvPr>
          <p:cNvSpPr>
            <a:spLocks xmlns:a="http://schemas.openxmlformats.org/drawingml/2006/main" noGrp="1"/>
          </p:cNvSpPr>
          <p:nvPr/>
        </p:nvSpPr>
        <p:spPr>
          <a:xfrm xmlns:a="http://schemas.openxmlformats.org/drawingml/2006/main">
            <a:off x="8077200" y="2581275"/>
            <a:ext cx="3267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14838"/>
                </a:solidFill>
                <a:latin typeface="Arial"/>
                <a:ea typeface="Arial"/>
                <a:cs typeface="Arial"/>
              </a:defRPr>
            </a:pPr>
            <a:r>
              <a:rPr sz="1875" b="1">
                <a:solidFill>
                  <a:srgbClr val="714838"/>
                </a:solidFill>
                <a:latin typeface="Arial"/>
                <a:ea typeface="Arial"/>
                <a:cs typeface="Arial"/>
              </a:rPr>
              <a:t>Universidad</a:t>
            </a:r>
          </a:p>
        </p:txBody>
      </p:sp>
      <p:sp>
        <p:nvSpPr>
          <p:cNvPr id="11" name="benefit-title-2">
            <a:extLst xmlns:a="http://schemas.openxmlformats.org/drawingml/2006/main">
              <a:ext uri="{FF2B5EF4-FFF2-40B4-BE49-F238E27FC236}">
                <a16:creationId xmlns:a16="http://schemas.microsoft.com/office/drawing/2014/main" id="{5A7D0D31-4914-45D0-9DBA-757797F35ABC}"/>
              </a:ext>
            </a:extLst>
          </p:cNvPr>
          <p:cNvSpPr>
            <a:spLocks xmlns:a="http://schemas.openxmlformats.org/drawingml/2006/main" noGrp="1"/>
          </p:cNvSpPr>
          <p:nvPr/>
        </p:nvSpPr>
        <p:spPr>
          <a:xfrm xmlns:a="http://schemas.openxmlformats.org/drawingml/2006/main">
            <a:off x="8077200" y="3228975"/>
            <a:ext cx="3324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Mejor experiencia</a:t>
            </a:r>
          </a:p>
          <a:p xmlns:a="http://schemas.openxmlformats.org/drawingml/2006/main">
            <a:pPr algn="l">
              <a:defRPr sz="2475" b="1">
                <a:solidFill>
                  <a:srgbClr val="3B2318"/>
                </a:solidFill>
                <a:latin typeface="Arial"/>
                <a:ea typeface="Arial"/>
                <a:cs typeface="Arial"/>
              </a:defRPr>
            </a:pPr>
            <a:r>
              <a:rPr sz="2475" b="1">
                <a:solidFill>
                  <a:srgbClr val="3B2318"/>
                </a:solidFill>
                <a:latin typeface="Arial"/>
                <a:ea typeface="Arial"/>
                <a:cs typeface="Arial"/>
              </a:rPr>
              <a:t>de servicio</a:t>
            </a:r>
          </a:p>
        </p:txBody>
      </p:sp>
      <p:sp>
        <p:nvSpPr>
          <p:cNvPr id="12" name="benefit-body-2">
            <a:extLst xmlns:a="http://schemas.openxmlformats.org/drawingml/2006/main">
              <a:ext uri="{FF2B5EF4-FFF2-40B4-BE49-F238E27FC236}">
                <a16:creationId xmlns:a16="http://schemas.microsoft.com/office/drawing/2014/main" id="{DB6049C9-3CDC-4953-B078-24831874FEF8}"/>
              </a:ext>
            </a:extLst>
          </p:cNvPr>
          <p:cNvSpPr>
            <a:spLocks xmlns:a="http://schemas.openxmlformats.org/drawingml/2006/main" noGrp="1"/>
          </p:cNvSpPr>
          <p:nvPr/>
        </p:nvSpPr>
        <p:spPr>
          <a:xfrm xmlns:a="http://schemas.openxmlformats.org/drawingml/2006/main">
            <a:off x="8077200" y="4467225"/>
            <a:ext cx="3324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Contar con un proceso</a:t>
            </a:r>
          </a:p>
          <a:p xmlns:a="http://schemas.openxmlformats.org/drawingml/2006/main">
            <a:pPr algn="l">
              <a:defRPr sz="1875" b="0">
                <a:solidFill>
                  <a:srgbClr val="1B1512"/>
                </a:solidFill>
                <a:latin typeface="Arial"/>
                <a:ea typeface="Arial"/>
                <a:cs typeface="Arial"/>
              </a:defRPr>
            </a:pPr>
            <a:r>
              <a:rPr sz="1875" b="0">
                <a:solidFill>
                  <a:srgbClr val="1B1512"/>
                </a:solidFill>
                <a:latin typeface="Arial"/>
                <a:ea typeface="Arial"/>
                <a:cs typeface="Arial"/>
              </a:rPr>
              <a:t>que pueda evaluarse y mejorar.</a:t>
            </a:r>
          </a:p>
        </p:txBody>
      </p:sp>
      <p:sp>
        <p:nvSpPr>
          <p:cNvPr id="13" name="benefits-rule">
            <a:extLst xmlns:a="http://schemas.openxmlformats.org/drawingml/2006/main">
              <a:ext uri="{FF2B5EF4-FFF2-40B4-BE49-F238E27FC236}">
                <a16:creationId xmlns:a16="http://schemas.microsoft.com/office/drawing/2014/main" id="{1077B794-6EA1-4664-9E1E-D95BF30B1E7F}"/>
              </a:ext>
            </a:extLst>
          </p:cNvPr>
          <p:cNvSpPr>
            <a:spLocks xmlns:a="http://schemas.openxmlformats.org/drawingml/2006/main" noGrp="1"/>
          </p:cNvSpPr>
          <p:nvPr/>
        </p:nvSpPr>
        <p:spPr>
          <a:xfrm xmlns:a="http://schemas.openxmlformats.org/drawingml/2006/main">
            <a:off x="838200" y="5676900"/>
            <a:ext cx="10515600" cy="0"/>
          </a:xfrm>
          <a:prstGeom xmlns:a="http://schemas.openxmlformats.org/drawingml/2006/main" prst="line">
            <a:avLst/>
          </a:prstGeom>
          <a:noFill xmlns:a="http://schemas.openxmlformats.org/drawingml/2006/main"/>
          <a:ln xmlns:a="http://schemas.openxmlformats.org/drawingml/2006/main" w="9525">
            <a:solidFill>
              <a:srgbClr val="DFD3C3"/>
            </a:solidFill>
          </a:ln>
        </p:spPr>
      </p:sp>
      <p:sp>
        <p:nvSpPr>
          <p:cNvPr id="14" name="benefits-measurement">
            <a:extLst xmlns:a="http://schemas.openxmlformats.org/drawingml/2006/main">
              <a:ext uri="{FF2B5EF4-FFF2-40B4-BE49-F238E27FC236}">
                <a16:creationId xmlns:a16="http://schemas.microsoft.com/office/drawing/2014/main" id="{89D41E2F-53CF-40DB-975A-F68E1854B80D}"/>
              </a:ext>
            </a:extLst>
          </p:cNvPr>
          <p:cNvSpPr>
            <a:spLocks xmlns:a="http://schemas.openxmlformats.org/drawingml/2006/main" noGrp="1"/>
          </p:cNvSpPr>
          <p:nvPr/>
        </p:nvSpPr>
        <p:spPr>
          <a:xfrm xmlns:a="http://schemas.openxmlformats.org/drawingml/2006/main">
            <a:off x="838200" y="59055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4675E"/>
                </a:solidFill>
                <a:latin typeface="Arial"/>
                <a:ea typeface="Arial"/>
                <a:cs typeface="Arial"/>
              </a:defRPr>
            </a:pPr>
            <a:r>
              <a:rPr sz="1725" b="0">
                <a:solidFill>
                  <a:srgbClr val="74675E"/>
                </a:solidFill>
                <a:latin typeface="Arial"/>
                <a:ea typeface="Arial"/>
                <a:cs typeface="Arial"/>
              </a:rPr>
              <a:t>El piloto permitirá medir estos beneficios en horarios pico.</a:t>
            </a:r>
          </a:p>
        </p:txBody>
      </p:sp>
    </p:spTree>
    <p:extLst>
      <p:ext uri="{BB962C8B-B14F-4D97-AF65-F5344CB8AC3E}">
        <p14:creationId xmlns:p14="http://schemas.microsoft.com/office/powerpoint/2010/main" val="1736015488"/>
      </p:ext>
    </p:extLst>
  </p:cSld>
</p:sld>
</file>

<file path=ppt/slides/slide9.xml><?xml version="1.0" encoding="utf-8"?>
<p:sld xmlns:p="http://schemas.openxmlformats.org/presentationml/2006/main">
  <p:cSld>
    <p:bg>
      <p:bgPr>
        <a:solidFill xmlns:a="http://schemas.openxmlformats.org/drawingml/2006/main">
          <a:srgbClr val="3B2318"/>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69C0BE92-FC40-4FA0-AD0B-502085A10C74}"/>
              </a:ext>
            </a:extLst>
          </p:cNvPr>
          <p:cNvSpPr>
            <a:spLocks xmlns:a="http://schemas.openxmlformats.org/drawingml/2006/main" noGrp="1"/>
          </p:cNvSpPr>
          <p:nvPr/>
        </p:nvSpPr>
        <p:spPr>
          <a:xfrm xmlns:a="http://schemas.openxmlformats.org/drawingml/2006/main">
            <a:off x="838200" y="466725"/>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DFD3C3"/>
                </a:solidFill>
                <a:latin typeface="Arial"/>
                <a:ea typeface="Arial"/>
                <a:cs typeface="Arial"/>
              </a:defRPr>
            </a:pPr>
            <a:r>
              <a:rPr sz="1350" b="1">
                <a:solidFill>
                  <a:srgbClr val="DFD3C3"/>
                </a:solidFill>
                <a:latin typeface="Arial"/>
                <a:ea typeface="Arial"/>
                <a:cs typeface="Arial"/>
              </a:rPr>
              <a:t>RESULTADOS Y SIGUIENTES PASOS</a:t>
            </a:r>
          </a:p>
        </p:txBody>
      </p:sp>
      <p:sp>
        <p:nvSpPr>
          <p:cNvPr id="2" name="slide-title">
            <a:extLst xmlns:a="http://schemas.openxmlformats.org/drawingml/2006/main">
              <a:ext uri="{FF2B5EF4-FFF2-40B4-BE49-F238E27FC236}">
                <a16:creationId xmlns:a16="http://schemas.microsoft.com/office/drawing/2014/main" id="{96C1A54A-A6F2-4311-99A7-775DDBAF83FF}"/>
              </a:ext>
            </a:extLst>
          </p:cNvPr>
          <p:cNvSpPr>
            <a:spLocks xmlns:a="http://schemas.openxmlformats.org/drawingml/2006/main" noGrp="1"/>
          </p:cNvSpPr>
          <p:nvPr/>
        </p:nvSpPr>
        <p:spPr>
          <a:xfrm xmlns:a="http://schemas.openxmlformats.org/drawingml/2006/main">
            <a:off x="838200" y="1000125"/>
            <a:ext cx="10515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AF6F0"/>
                </a:solidFill>
                <a:latin typeface="Arial"/>
                <a:ea typeface="Arial"/>
                <a:cs typeface="Arial"/>
              </a:defRPr>
            </a:pPr>
            <a:r>
              <a:rPr sz="3450" b="1">
                <a:solidFill>
                  <a:srgbClr val="FAF6F0"/>
                </a:solidFill>
                <a:latin typeface="Arial"/>
                <a:ea typeface="Arial"/>
                <a:cs typeface="Arial"/>
              </a:rPr>
              <a:t>Una versión funcional.</a:t>
            </a:r>
          </a:p>
          <a:p xmlns:a="http://schemas.openxmlformats.org/drawingml/2006/main">
            <a:pPr algn="l">
              <a:defRPr sz="3450" b="1">
                <a:solidFill>
                  <a:srgbClr val="FAF6F0"/>
                </a:solidFill>
                <a:latin typeface="Arial"/>
                <a:ea typeface="Arial"/>
                <a:cs typeface="Arial"/>
              </a:defRPr>
            </a:pPr>
            <a:r>
              <a:rPr sz="3450" b="1">
                <a:solidFill>
                  <a:srgbClr val="FAF6F0"/>
                </a:solidFill>
                <a:latin typeface="Arial"/>
                <a:ea typeface="Arial"/>
                <a:cs typeface="Arial"/>
              </a:rPr>
              <a:t>Un piloto por delante.</a:t>
            </a:r>
          </a:p>
        </p:txBody>
      </p:sp>
      <p:sp>
        <p:nvSpPr>
          <p:cNvPr id="3" name="slide-number">
            <a:extLst xmlns:a="http://schemas.openxmlformats.org/drawingml/2006/main">
              <a:ext uri="{FF2B5EF4-FFF2-40B4-BE49-F238E27FC236}">
                <a16:creationId xmlns:a16="http://schemas.microsoft.com/office/drawing/2014/main" id="{8D68EBF2-ED93-45B8-B448-72827BBFDA05}"/>
              </a:ext>
            </a:extLst>
          </p:cNvPr>
          <p:cNvSpPr>
            <a:spLocks xmlns:a="http://schemas.openxmlformats.org/drawingml/2006/main" noGrp="1"/>
          </p:cNvSpPr>
          <p:nvPr/>
        </p:nvSpPr>
        <p:spPr>
          <a:xfrm xmlns:a="http://schemas.openxmlformats.org/drawingml/2006/main">
            <a:off x="108394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FD3C3"/>
                </a:solidFill>
                <a:latin typeface="Arial"/>
                <a:ea typeface="Arial"/>
                <a:cs typeface="Arial"/>
              </a:defRPr>
            </a:pPr>
            <a:r>
              <a:rPr sz="1275" b="0">
                <a:solidFill>
                  <a:srgbClr val="DFD3C3"/>
                </a:solidFill>
                <a:latin typeface="Arial"/>
                <a:ea typeface="Arial"/>
                <a:cs typeface="Arial"/>
              </a:rPr>
              <a:t>09</a:t>
            </a:r>
          </a:p>
        </p:txBody>
      </p:sp>
      <p:sp>
        <p:nvSpPr>
          <p:cNvPr id="4" name="result-label">
            <a:extLst xmlns:a="http://schemas.openxmlformats.org/drawingml/2006/main">
              <a:ext uri="{FF2B5EF4-FFF2-40B4-BE49-F238E27FC236}">
                <a16:creationId xmlns:a16="http://schemas.microsoft.com/office/drawing/2014/main" id="{E5316B63-2C24-4764-815F-809D360714B6}"/>
              </a:ext>
            </a:extLst>
          </p:cNvPr>
          <p:cNvSpPr>
            <a:spLocks xmlns:a="http://schemas.openxmlformats.org/drawingml/2006/main" noGrp="1"/>
          </p:cNvSpPr>
          <p:nvPr/>
        </p:nvSpPr>
        <p:spPr>
          <a:xfrm xmlns:a="http://schemas.openxmlformats.org/drawingml/2006/main">
            <a:off x="838200" y="3000375"/>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DFD3C3"/>
                </a:solidFill>
                <a:latin typeface="Arial"/>
                <a:ea typeface="Arial"/>
                <a:cs typeface="Arial"/>
              </a:defRPr>
            </a:pPr>
            <a:r>
              <a:rPr sz="2025" b="1">
                <a:solidFill>
                  <a:srgbClr val="DFD3C3"/>
                </a:solidFill>
                <a:latin typeface="Arial"/>
                <a:ea typeface="Arial"/>
                <a:cs typeface="Arial"/>
              </a:rPr>
              <a:t>Disponible hoy</a:t>
            </a:r>
          </a:p>
        </p:txBody>
      </p:sp>
      <p:sp>
        <p:nvSpPr>
          <p:cNvPr id="5" name="result-detail">
            <a:extLst xmlns:a="http://schemas.openxmlformats.org/drawingml/2006/main">
              <a:ext uri="{FF2B5EF4-FFF2-40B4-BE49-F238E27FC236}">
                <a16:creationId xmlns:a16="http://schemas.microsoft.com/office/drawing/2014/main" id="{9A800984-D82C-47AE-A52E-550C6F198CA3}"/>
              </a:ext>
            </a:extLst>
          </p:cNvPr>
          <p:cNvSpPr>
            <a:spLocks xmlns:a="http://schemas.openxmlformats.org/drawingml/2006/main" noGrp="1"/>
          </p:cNvSpPr>
          <p:nvPr/>
        </p:nvSpPr>
        <p:spPr>
          <a:xfrm xmlns:a="http://schemas.openxmlformats.org/drawingml/2006/main">
            <a:off x="838200" y="3619500"/>
            <a:ext cx="49149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Pedido y seguimiento en la app.</a:t>
            </a:r>
          </a:p>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Control de órdenes desde</a:t>
            </a:r>
          </a:p>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el panel de la cafetería.</a:t>
            </a:r>
          </a:p>
        </p:txBody>
      </p:sp>
      <p:sp>
        <p:nvSpPr>
          <p:cNvPr id="6" name="pilot-label">
            <a:extLst xmlns:a="http://schemas.openxmlformats.org/drawingml/2006/main">
              <a:ext uri="{FF2B5EF4-FFF2-40B4-BE49-F238E27FC236}">
                <a16:creationId xmlns:a16="http://schemas.microsoft.com/office/drawing/2014/main" id="{BF1F471B-33BB-4FAA-96CF-5E12941388B1}"/>
              </a:ext>
            </a:extLst>
          </p:cNvPr>
          <p:cNvSpPr>
            <a:spLocks xmlns:a="http://schemas.openxmlformats.org/drawingml/2006/main" noGrp="1"/>
          </p:cNvSpPr>
          <p:nvPr/>
        </p:nvSpPr>
        <p:spPr>
          <a:xfrm xmlns:a="http://schemas.openxmlformats.org/drawingml/2006/main">
            <a:off x="6534150" y="3000375"/>
            <a:ext cx="4819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DFD3C3"/>
                </a:solidFill>
                <a:latin typeface="Arial"/>
                <a:ea typeface="Arial"/>
                <a:cs typeface="Arial"/>
              </a:defRPr>
            </a:pPr>
            <a:r>
              <a:rPr sz="2025" b="1">
                <a:solidFill>
                  <a:srgbClr val="DFD3C3"/>
                </a:solidFill>
                <a:latin typeface="Arial"/>
                <a:ea typeface="Arial"/>
                <a:cs typeface="Arial"/>
              </a:rPr>
              <a:t>Próximo paso propuesto</a:t>
            </a:r>
          </a:p>
        </p:txBody>
      </p:sp>
      <p:sp>
        <p:nvSpPr>
          <p:cNvPr id="7" name="pilot-detail">
            <a:extLst xmlns:a="http://schemas.openxmlformats.org/drawingml/2006/main">
              <a:ext uri="{FF2B5EF4-FFF2-40B4-BE49-F238E27FC236}">
                <a16:creationId xmlns:a16="http://schemas.microsoft.com/office/drawing/2014/main" id="{529EF297-0962-4F51-A9C6-FE36287E1672}"/>
              </a:ext>
            </a:extLst>
          </p:cNvPr>
          <p:cNvSpPr>
            <a:spLocks xmlns:a="http://schemas.openxmlformats.org/drawingml/2006/main" noGrp="1"/>
          </p:cNvSpPr>
          <p:nvPr/>
        </p:nvSpPr>
        <p:spPr>
          <a:xfrm xmlns:a="http://schemas.openxmlformats.org/drawingml/2006/main">
            <a:off x="6534150" y="3619500"/>
            <a:ext cx="48196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Probar durante 15 días</a:t>
            </a:r>
          </a:p>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en horarios pico y medir</a:t>
            </a:r>
          </a:p>
          <a:p xmlns:a="http://schemas.openxmlformats.org/drawingml/2006/main">
            <a:pPr algn="l">
              <a:defRPr sz="2175" b="0">
                <a:solidFill>
                  <a:srgbClr val="FAF6F0"/>
                </a:solidFill>
                <a:latin typeface="Arial"/>
                <a:ea typeface="Arial"/>
                <a:cs typeface="Arial"/>
              </a:defRPr>
            </a:pPr>
            <a:r>
              <a:rPr sz="2175" b="0">
                <a:solidFill>
                  <a:srgbClr val="FAF6F0"/>
                </a:solidFill>
                <a:latin typeface="Arial"/>
                <a:ea typeface="Arial"/>
                <a:cs typeface="Arial"/>
              </a:rPr>
              <a:t>espera, entregas y satisfacción.</a:t>
            </a:r>
          </a:p>
        </p:txBody>
      </p:sp>
      <p:sp>
        <p:nvSpPr>
          <p:cNvPr id="8" name="closing-divider">
            <a:extLst xmlns:a="http://schemas.openxmlformats.org/drawingml/2006/main">
              <a:ext uri="{FF2B5EF4-FFF2-40B4-BE49-F238E27FC236}">
                <a16:creationId xmlns:a16="http://schemas.microsoft.com/office/drawing/2014/main" id="{0446FD8C-43F3-4680-9E05-E4DE690B7E67}"/>
              </a:ext>
            </a:extLst>
          </p:cNvPr>
          <p:cNvSpPr>
            <a:spLocks xmlns:a="http://schemas.openxmlformats.org/drawingml/2006/main" noGrp="1"/>
          </p:cNvSpPr>
          <p:nvPr/>
        </p:nvSpPr>
        <p:spPr>
          <a:xfrm xmlns:a="http://schemas.openxmlformats.org/drawingml/2006/main">
            <a:off x="838200" y="5581650"/>
            <a:ext cx="10515600" cy="0"/>
          </a:xfrm>
          <a:prstGeom xmlns:a="http://schemas.openxmlformats.org/drawingml/2006/main" prst="line">
            <a:avLst/>
          </a:prstGeom>
          <a:noFill xmlns:a="http://schemas.openxmlformats.org/drawingml/2006/main"/>
          <a:ln xmlns:a="http://schemas.openxmlformats.org/drawingml/2006/main" w="9525">
            <a:solidFill>
              <a:srgbClr val="714838"/>
            </a:solidFill>
          </a:ln>
        </p:spPr>
      </p:sp>
      <p:sp>
        <p:nvSpPr>
          <p:cNvPr id="9" name="closing-questions">
            <a:extLst xmlns:a="http://schemas.openxmlformats.org/drawingml/2006/main">
              <a:ext uri="{FF2B5EF4-FFF2-40B4-BE49-F238E27FC236}">
                <a16:creationId xmlns:a16="http://schemas.microsoft.com/office/drawing/2014/main" id="{3BAE2CC8-6939-44B6-A6A0-6F0BBC1EC3DA}"/>
              </a:ext>
            </a:extLst>
          </p:cNvPr>
          <p:cNvSpPr>
            <a:spLocks xmlns:a="http://schemas.openxmlformats.org/drawingml/2006/main" noGrp="1"/>
          </p:cNvSpPr>
          <p:nvPr/>
        </p:nvSpPr>
        <p:spPr>
          <a:xfrm xmlns:a="http://schemas.openxmlformats.org/drawingml/2006/main">
            <a:off x="838200" y="5819775"/>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AF6F0"/>
                </a:solidFill>
                <a:latin typeface="Arial"/>
                <a:ea typeface="Arial"/>
                <a:cs typeface="Arial"/>
              </a:defRPr>
            </a:pPr>
            <a:r>
              <a:rPr sz="2700" b="1">
                <a:solidFill>
                  <a:srgbClr val="FAF6F0"/>
                </a:solidFill>
                <a:latin typeface="Arial"/>
                <a:ea typeface="Arial"/>
                <a:cs typeface="Arial"/>
              </a:rPr>
              <a:t>Preguntas</a:t>
            </a:r>
          </a:p>
        </p:txBody>
      </p:sp>
      <p:sp>
        <p:nvSpPr>
          <p:cNvPr id="10" name="closing-time">
            <a:extLst xmlns:a="http://schemas.openxmlformats.org/drawingml/2006/main">
              <a:ext uri="{FF2B5EF4-FFF2-40B4-BE49-F238E27FC236}">
                <a16:creationId xmlns:a16="http://schemas.microsoft.com/office/drawing/2014/main" id="{76F30763-FFF5-4E56-BE3D-0D13EDABED00}"/>
              </a:ext>
            </a:extLst>
          </p:cNvPr>
          <p:cNvSpPr>
            <a:spLocks xmlns:a="http://schemas.openxmlformats.org/drawingml/2006/main" noGrp="1"/>
          </p:cNvSpPr>
          <p:nvPr/>
        </p:nvSpPr>
        <p:spPr>
          <a:xfrm xmlns:a="http://schemas.openxmlformats.org/drawingml/2006/main">
            <a:off x="9525000" y="5943600"/>
            <a:ext cx="1828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DFD3C3"/>
                </a:solidFill>
                <a:latin typeface="Arial"/>
                <a:ea typeface="Arial"/>
                <a:cs typeface="Arial"/>
              </a:defRPr>
            </a:pPr>
            <a:r>
              <a:rPr sz="1650" b="0">
                <a:solidFill>
                  <a:srgbClr val="DFD3C3"/>
                </a:solidFill>
                <a:latin typeface="Arial"/>
                <a:ea typeface="Arial"/>
                <a:cs typeface="Arial"/>
              </a:rPr>
              <a:t>10 minutos</a:t>
            </a:r>
          </a:p>
        </p:txBody>
      </p:sp>
    </p:spTree>
    <p:extLst>
      <p:ext uri="{BB962C8B-B14F-4D97-AF65-F5344CB8AC3E}">
        <p14:creationId xmlns:p14="http://schemas.microsoft.com/office/powerpoint/2010/main" val="1062783859"/>
      </p:ext>
    </p:extLst>
  </p:cSld>
</p:sld>
</file>

<file path=ppt/theme/theme1.xml><?xml version="1.0" encoding="utf-8"?>
<a:theme xmlns:a="http://schemas.openxmlformats.org/drawingml/2006/main" name="ChatGPT">
  <a:themeElements>
    <a:clrScheme name="Más Café">
      <a:dk1>
        <a:srgbClr val="1B1512"/>
      </a:dk1>
      <a:lt1>
        <a:srgbClr val="FFFFFF"/>
      </a:lt1>
      <a:dk2>
        <a:srgbClr val="3B2318"/>
      </a:dk2>
      <a:lt2>
        <a:srgbClr val="FAF6F0"/>
      </a:lt2>
      <a:accent1>
        <a:srgbClr val="3B2318"/>
      </a:accent1>
      <a:accent2>
        <a:srgbClr val="543326"/>
      </a:accent2>
      <a:accent3>
        <a:srgbClr val="714838"/>
      </a:accent3>
      <a:accent4>
        <a:srgbClr val="F3E9DC"/>
      </a:accent4>
      <a:accent5>
        <a:srgbClr val="DFD3C3"/>
      </a:accent5>
      <a:accent6>
        <a:srgbClr val="74675E"/>
      </a:accent6>
      <a:hlink>
        <a:srgbClr val="543326"/>
      </a:hlink>
      <a:folHlink>
        <a:srgbClr val="714838"/>
      </a:folHlink>
    </a:clrScheme>
    <a:fontScheme name="Office">
      <a:majorFont>
        <a:latin typeface="Calibri Light"/>
        <a:ea typeface="Calibri Light"/>
        <a:cs typeface="Calibri Light"/>
      </a:majorFont>
      <a:minorFont>
        <a:latin typeface="Calibri"/>
        <a:ea typeface="Calibri"/>
        <a:cs typeface="Calibri"/>
      </a:minorFont>
    </a:fontScheme>
    <a:fmtScheme name="Más Café">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2026-09-25T07:30:15.6250000Z</dcterms:created>
  <dcterms:modified xsi:type="dcterms:W3CDTF">2026-09-25T07:30:15.6260000Z</dcterms:modified>
</coreProperties>
</file>