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5763a354bd4dc2" /><Relationship Type="http://schemas.openxmlformats.org/officeDocument/2006/relationships/extended-properties" Target="/docProps/app.xml" Id="Rd148bb242d6148be" /><Relationship Type="http://schemas.openxmlformats.org/officeDocument/2006/relationships/officeDocument" Target="/ppt/presentation.xml" Id="R3a958082d78b43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bd692227cf4316"/>
  </p:sldMasterIdLst>
  <p:notesMasterIdLst>
    <p:notesMasterId xmlns:r="http://schemas.openxmlformats.org/officeDocument/2006/relationships" r:id="Rc178d7cd8ee94861"/>
  </p:notesMasterIdLst>
  <p:sldIdLst>
    <p:sldId xmlns:r="http://schemas.openxmlformats.org/officeDocument/2006/relationships" id="256" r:id="R88c07d5a3eb44bc1"/>
    <p:sldId xmlns:r="http://schemas.openxmlformats.org/officeDocument/2006/relationships" id="257" r:id="R3591674fefe442df"/>
    <p:sldId xmlns:r="http://schemas.openxmlformats.org/officeDocument/2006/relationships" id="258" r:id="R0e7afb244e6f45de"/>
    <p:sldId xmlns:r="http://schemas.openxmlformats.org/officeDocument/2006/relationships" id="259" r:id="Rf7670d98e82a49af"/>
    <p:sldId xmlns:r="http://schemas.openxmlformats.org/officeDocument/2006/relationships" id="260" r:id="Rb96c166e7c134d92"/>
    <p:sldId xmlns:r="http://schemas.openxmlformats.org/officeDocument/2006/relationships" id="261" r:id="Rc046c810f7ee4cd6"/>
    <p:sldId xmlns:r="http://schemas.openxmlformats.org/officeDocument/2006/relationships" id="262" r:id="R4293913d186e4f28"/>
    <p:sldId xmlns:r="http://schemas.openxmlformats.org/officeDocument/2006/relationships" id="263" r:id="R8fd7e8f347024fc3"/>
    <p:sldId xmlns:r="http://schemas.openxmlformats.org/officeDocument/2006/relationships" id="264" r:id="R7cf2287b57ad47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50dd9f23a4daf" /><Relationship Type="http://schemas.openxmlformats.org/officeDocument/2006/relationships/slideMaster" Target="/ppt/slideMasters/slideMaster1.xml" Id="R40bd692227cf4316" /><Relationship Type="http://schemas.openxmlformats.org/officeDocument/2006/relationships/notesMaster" Target="/ppt/notesMasters/notesMaster1.xml" Id="Rc178d7cd8ee94861" /><Relationship Type="http://schemas.openxmlformats.org/officeDocument/2006/relationships/presProps" Target="/ppt/presProps.xml" Id="R5163f199dfdc4a91" /><Relationship Type="http://schemas.openxmlformats.org/officeDocument/2006/relationships/tableStyles" Target="/ppt/tableStyles.xml" Id="Re72345eea3cf45a3" /><Relationship Type="http://schemas.openxmlformats.org/officeDocument/2006/relationships/slide" Target="/ppt/slides/slide1.xml" Id="R88c07d5a3eb44bc1" /><Relationship Type="http://schemas.openxmlformats.org/officeDocument/2006/relationships/slide" Target="/ppt/slides/slide2.xml" Id="R3591674fefe442df" /><Relationship Type="http://schemas.openxmlformats.org/officeDocument/2006/relationships/slide" Target="/ppt/slides/slide3.xml" Id="R0e7afb244e6f45de" /><Relationship Type="http://schemas.openxmlformats.org/officeDocument/2006/relationships/slide" Target="/ppt/slides/slide4.xml" Id="Rf7670d98e82a49af" /><Relationship Type="http://schemas.openxmlformats.org/officeDocument/2006/relationships/slide" Target="/ppt/slides/slide5.xml" Id="Rb96c166e7c134d92" /><Relationship Type="http://schemas.openxmlformats.org/officeDocument/2006/relationships/slide" Target="/ppt/slides/slide6.xml" Id="Rc046c810f7ee4cd6" /><Relationship Type="http://schemas.openxmlformats.org/officeDocument/2006/relationships/slide" Target="/ppt/slides/slide7.xml" Id="R4293913d186e4f28" /><Relationship Type="http://schemas.openxmlformats.org/officeDocument/2006/relationships/slide" Target="/ppt/slides/slide8.xml" Id="R8fd7e8f347024fc3" /><Relationship Type="http://schemas.openxmlformats.org/officeDocument/2006/relationships/slide" Target="/ppt/slides/slide9.xml" Id="R7cf2287b57ad47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4d1379ac9944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5e6349da9540a5" /><Relationship Type="http://schemas.openxmlformats.org/officeDocument/2006/relationships/notesMaster" Target="/ppt/notesMasters/notesMaster1.xml" Id="Rffed18af5c8b4c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e39f33783d4e33" /><Relationship Type="http://schemas.openxmlformats.org/officeDocument/2006/relationships/notesMaster" Target="/ppt/notesMasters/notesMaster1.xml" Id="R90a2c9de3fdd49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8e8f9da8334972" /><Relationship Type="http://schemas.openxmlformats.org/officeDocument/2006/relationships/notesMaster" Target="/ppt/notesMasters/notesMaster1.xml" Id="R3537fd8db89c4b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31c7247b4f45bf" /><Relationship Type="http://schemas.openxmlformats.org/officeDocument/2006/relationships/notesMaster" Target="/ppt/notesMasters/notesMaster1.xml" Id="Rf43bb457703543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fdf53608e0443f" /><Relationship Type="http://schemas.openxmlformats.org/officeDocument/2006/relationships/notesMaster" Target="/ppt/notesMasters/notesMaster1.xml" Id="R872ceac9ad524f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2c04c322b0477a" /><Relationship Type="http://schemas.openxmlformats.org/officeDocument/2006/relationships/notesMaster" Target="/ppt/notesMasters/notesMaster1.xml" Id="R0d3b77fb3fb442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6621a7fe694c0b" /><Relationship Type="http://schemas.openxmlformats.org/officeDocument/2006/relationships/notesMaster" Target="/ppt/notesMasters/notesMaster1.xml" Id="R03ab88b9e0184f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7b498f5efd40da" /><Relationship Type="http://schemas.openxmlformats.org/officeDocument/2006/relationships/notesMaster" Target="/ppt/notesMasters/notesMaster1.xml" Id="R27f95f4af0e44d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ac5a9a50514b9a" /><Relationship Type="http://schemas.openxmlformats.org/officeDocument/2006/relationships/notesMaster" Target="/ppt/notesMasters/notesMaster1.xml" Id="R7d6f063063e9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15 segundos. Saludar, presentar al Equipo 2 y anticipar que la exposición durará menos de diez minutos para reservar la segunda mitad de la sesión a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Equipo 2. (2026). Project Charter final del proyecto Más Café.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 Explicar el problema desde la experiencia de las personas. En horas pico, el estudiante no sabe cuánto tardará y la cafetería concentra toma, preparación y entrega en el mismo mostrador. Esto genera presión, confusión y poca visibilidad del pedido.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Equipo 2. (2026). Project Charter final del proyecto Más Café, resumen ejecutivo.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 Mencionar que la evidencia provino de conversaciones con personal de cafetería, observación del flujo y pruebas del prototipo. Evitar hablar de herramientas o código. Si el equipo cuenta con fotografías o una minuta de las entrevistas, puede sustituir esta diapositiva por esa evidencia antes de presentar.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Equipo 2. (2026). Project Charter final del proyecto Más Café, responsabilidades, riesgos y evidencia de cierre.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30 segundos. Leer la frase de objetivo y conectar con el problema. La idea central consiste en pedir sin permanecer en la fila y conservar claridad hasta recoger el producto.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Objetivo sintetizado a partir del Project Charter final de Más Café.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2 minutos. Explicar la solución sin términos técnicos. Primero, el estudiante abre Más Café, revisa el menú, personaliza y genera el pedido. Después, la cafetería recibe una orden legible, la prepara y cambia su estado. El estudiante ve el avance y pasa al mostrador cuando está listo.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Captura del prototipo Más Café, pantalla de inicio, Equipo 2, 2026.</a:t>
            </a:r>
          </a:p>
          <a:p xmlns:a="http://schemas.openxmlformats.org/drawingml/2006/main">
            <a:r>
              <a:t>- Equipo 2. (2026). Project Charter final del proyecto Más Café, alcance.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30 segundos. Durante la demostración, mostrar únicamente el flujo principal: abrir menú, elegir un producto, personalizarlo, ir al carrito y generar el pedido. Señalar que la app valida la ubicación en ese momento y explica la causa cuando no permite continuar.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Captura del prototipo Más Café, validación de ubicación, Equipo 2,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 30 segundos. Mostrar el panel de la cafetería y cambiar un pedido de Generado a En preparación y después a Listo. Volver al teléfono o navegador del cliente para enseñar el estado y el aviso. Cerrar con la entrega en mostrador. No intentar mostrar la administración completa del menú.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Captura del panel administrativo y captura del historial del cliente, Equipo 2,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1 minuto. Presentar un beneficio por audiencia. Para el estudiante, tiempo y certeza. Para la cafetería, órdenes claras y control. Para la universidad, una mejor experiencia de servicio y un registro que permite tomar decisiones. Evitar prometer resultados que todavía no se han medido en operación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Equipo 2. (2026). Project Charter final del proyecto Más Café, alcance y criterios de aceptación.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Tiempo sugerido: 30 segundos. Cerrar con un resultado concreto: existe un MVP demostrable. Proponer una prueba de 15 días en horarios pico para medir el impacto real. Después, abrir la sesión de preguntas.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Fuentes y evidencia:</a:t>
            </a:r>
          </a:p>
          <a:p xmlns:a="http://schemas.openxmlformats.org/drawingml/2006/main">
            <a:r>
              <a:t>- Equipo 2. (2026). Project Charter final del proyecto Más Café, criterios de aceptación y riesgos.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2ef724401443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7fbd835d434f09" /><Relationship Type="http://schemas.openxmlformats.org/officeDocument/2006/relationships/slideLayout" Target="/ppt/slideLayouts/slideLayout1.xml" Id="Ra30206ac0fb84e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0206ac0fb84e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a1d6e5910498e" /><Relationship Type="http://schemas.openxmlformats.org/officeDocument/2006/relationships/image" Target="/ppt/media/image.png" Id="R6ca0924f28b047e0" /><Relationship Type="http://schemas.openxmlformats.org/officeDocument/2006/relationships/notesSlide" Target="/ppt/notesSlides/notesSlide1.xml" Id="R5af6a4364b4f4a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bde1793b54545" /><Relationship Type="http://schemas.openxmlformats.org/officeDocument/2006/relationships/notesSlide" Target="/ppt/notesSlides/notesSlide2.xml" Id="R70138f8786bb40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fb9c400764732" /><Relationship Type="http://schemas.openxmlformats.org/officeDocument/2006/relationships/notesSlide" Target="/ppt/notesSlides/notesSlide3.xml" Id="R720c9f71cd3443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20251fa184880" /><Relationship Type="http://schemas.openxmlformats.org/officeDocument/2006/relationships/notesSlide" Target="/ppt/notesSlides/notesSlide4.xml" Id="Rce5374020ff84e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b2c60bc1a49a5" /><Relationship Type="http://schemas.openxmlformats.org/officeDocument/2006/relationships/image" Target="/ppt/media/image2.png" Id="R09b50e07da964658" /><Relationship Type="http://schemas.openxmlformats.org/officeDocument/2006/relationships/image" Target="/ppt/media/image3.png" Id="R79ebcae08d8741cc" /><Relationship Type="http://schemas.openxmlformats.org/officeDocument/2006/relationships/notesSlide" Target="/ppt/notesSlides/notesSlide5.xml" Id="Rd2fd1f48f8a04e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dcd19e4984f2a" /><Relationship Type="http://schemas.openxmlformats.org/officeDocument/2006/relationships/image" Target="/ppt/media/image4.png" Id="R8e42a057b2994e45" /><Relationship Type="http://schemas.openxmlformats.org/officeDocument/2006/relationships/notesSlide" Target="/ppt/notesSlides/notesSlide6.xml" Id="R4bf8b3ae06f14c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bc08df5eb49cd" /><Relationship Type="http://schemas.openxmlformats.org/officeDocument/2006/relationships/image" Target="/ppt/media/image5.png" Id="Rc1f58047f82940e0" /><Relationship Type="http://schemas.openxmlformats.org/officeDocument/2006/relationships/image" Target="/ppt/media/image6.png" Id="Rebf09d1316444311" /><Relationship Type="http://schemas.openxmlformats.org/officeDocument/2006/relationships/notesSlide" Target="/ppt/notesSlides/notesSlide7.xml" Id="Recc75ce1268243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cb074746340a4" /><Relationship Type="http://schemas.openxmlformats.org/officeDocument/2006/relationships/notesSlide" Target="/ppt/notesSlides/notesSlide8.xml" Id="Rfddc852f740241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e586347d84cbc" /><Relationship Type="http://schemas.openxmlformats.org/officeDocument/2006/relationships/notesSlide" Target="/ppt/notesSlides/notesSlide9.xml" Id="R2ea442112fd340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A1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DD792-FA18-459F-BFA0-D66D950A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MÁS CAFÉ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2E9E9-D166-4F00-A6C1-EADE1343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Pedidos más claros para estudiantes y cafetería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9B122-A1C6-4D9E-BEAF-04B85033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Presentación ejecutiva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8BA91-0ADA-4510-B63E-42C0789F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Equipo 2  ·  Tecmilenio Campus Cancún  ·  28 de septiembre de 2026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a0924f28b047e0"/>
          <a:stretch xmlns:a="http://schemas.openxmlformats.org/drawingml/2006/main"/>
        </p:blipFill>
        <p:spPr>
          <a:xfrm xmlns:a="http://schemas.openxmlformats.org/drawingml/2006/main">
            <a:off x="7905750" y="1000125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27E6F-3A79-4CD8-9A60-216FEA9D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3524250" cy="457200"/>
          </a:xfrm>
          <a:prstGeom xmlns:a="http://schemas.openxmlformats.org/drawingml/2006/main" prst="roundRect">
            <a:avLst>
              <a:gd name="adj" fmla="val 45833"/>
            </a:avLst>
          </a:prstGeom>
          <a:solidFill xmlns:a="http://schemas.openxmlformats.org/drawingml/2006/main">
            <a:srgbClr val="5B352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 min de presentación  |  10 min de preguntas</a:t>
            </a:r>
          </a:p>
        </p:txBody>
      </p:sp>
    </p:spTree>
    <p:extLst>
      <p:ext uri="{BB962C8B-B14F-4D97-AF65-F5344CB8AC3E}">
        <p14:creationId xmlns:p14="http://schemas.microsoft.com/office/powerpoint/2010/main" val="141634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AFAA0-AB16-42ED-80A8-D513346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El problema aparece cuando todos tienen prisa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70ADE-0A4C-4F01-A0DD-E336FCB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5B352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3526"/>
                </a:solidFill>
                <a:latin typeface="Arial"/>
                <a:ea typeface="Arial"/>
                <a:cs typeface="Arial"/>
              </a:rPr>
              <a:t>1:00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C2045-C520-4ECD-80F5-50E78F42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04A80-76F5-4FE4-ACBB-C6F759AA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A1F14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A1F14"/>
                </a:solidFill>
                <a:latin typeface="Arial"/>
                <a:ea typeface="Arial"/>
                <a:cs typeface="Arial"/>
              </a:rPr>
              <a:t>En horas pico, la fila obliga al estudiante a elegir entre esperar o llegar tarde.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D3DA8-EB81-485F-BA09-6069172A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57300"/>
            <a:ext cx="3619500" cy="40957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3A1F1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33A3E-3E53-4E63-81B0-D72AAE33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FILAS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7B60B-5ADA-44C5-BEAC-D89B6FEE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Saturación en mostrador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FD600-B1FB-41DA-AD16-AD8681AA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Poca visibilidad del avance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4449C-DC17-41CC-8977-4826CF6F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Pedidos y operación dispersos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83CBB-7B0F-4F6E-BF12-DB11DD2E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9282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92820"/>
                </a:solidFill>
                <a:latin typeface="Arial"/>
                <a:ea typeface="Arial"/>
                <a:cs typeface="Arial"/>
              </a:rPr>
              <a:t>Impacto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5D00A-97A2-4608-9868-C755BE76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6381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El estudiante pierde tiempo y certeza. La cafetería recibe presión justo cuando necesita ordenar mejor su operación.</a:t>
            </a:r>
          </a:p>
        </p:txBody>
      </p:sp>
    </p:spTree>
    <p:extLst>
      <p:ext uri="{BB962C8B-B14F-4D97-AF65-F5344CB8AC3E}">
        <p14:creationId xmlns:p14="http://schemas.microsoft.com/office/powerpoint/2010/main" val="719644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3A1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BFE70-8234-4A52-93EF-85B2E44E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investigación confirmó una necesidad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F8B37-D5EC-4970-9936-4F45E150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1:00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8648F-5D69-4D57-AB63-543C25F5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5EC56-AA2F-4EC9-BA6D-2E7C285E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ENTREVISTAS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69A37-668D-4FB1-92C2-E31BD3B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personal necesita pedidos claros y control del avance.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5B665-8980-43FA-AD31-A9AD5A2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OBSERVACIÓN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CE276-8D9F-41E5-AA67-385F8EE9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fila crece cuando elección, personalización y entrega coinciden.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BAC83-6212-4436-8FDB-1121D1F6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PRUEBAS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2AC53C-3B00-40A7-9C0E-C607A04B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Los usuarios valoran conocer su número y el momento de recoger.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2200D-9A15-42EF-B2AE-0CA39681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619500" cy="3143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5B3526"/>
          </a:solidFill>
          <a:ln xmlns:a="http://schemas.openxmlformats.org/drawingml/2006/main" w="19050">
            <a:solidFill>
              <a:srgbClr val="EEDFCC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E0B8BC-5D18-499E-97D7-83795646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5737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AGREGA AQUÍ UNA FOTO REAL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0ECAE-C2F1-47D2-AA18-0C64DFD6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Entrevista con cafetería, observación en hora pico o prueba con usuarios.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D05F7-D2F4-404D-BDDA-815EDAEB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Incluye fecha y una descripción breve.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8CDAE-75BF-437D-8C22-8FDFF9B4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62500"/>
            <a:ext cx="10020300" cy="819150"/>
          </a:xfrm>
          <a:prstGeom xmlns:a="http://schemas.openxmlformats.org/drawingml/2006/main" prst="roundRect">
            <a:avLst>
              <a:gd name="adj" fmla="val 27907"/>
            </a:avLst>
          </a:prstGeom>
          <a:solidFill xmlns:a="http://schemas.openxmlformats.org/drawingml/2006/main">
            <a:srgbClr val="EEDF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3A1F14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A1F14"/>
                </a:solidFill>
                <a:latin typeface="Arial"/>
                <a:ea typeface="Arial"/>
                <a:cs typeface="Arial"/>
              </a:rPr>
              <a:t>Hallazgo principal: la app debe reducir incertidumbre antes, durante y después de generar el pedido.</a:t>
            </a:r>
          </a:p>
        </p:txBody>
      </p:sp>
    </p:spTree>
    <p:extLst>
      <p:ext uri="{BB962C8B-B14F-4D97-AF65-F5344CB8AC3E}">
        <p14:creationId xmlns:p14="http://schemas.microsoft.com/office/powerpoint/2010/main" val="8241113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DFC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F8777-06C6-42C6-8E8A-1C169E08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Objetivo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9CCB5-1C2B-48F7-94A5-E79533BB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5B352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3526"/>
                </a:solidFill>
                <a:latin typeface="Arial"/>
                <a:ea typeface="Arial"/>
                <a:cs typeface="Arial"/>
              </a:rPr>
              <a:t>0:30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30B1A-3B8C-40F7-AC05-D8C55FAA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619E3-04F4-4E56-A0CD-4874323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971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3A1F1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A1F14"/>
                </a:solidFill>
                <a:latin typeface="Arial"/>
                <a:ea typeface="Arial"/>
                <a:cs typeface="Arial"/>
              </a:rPr>
              <a:t>Reducir filas y dar visibilidad al pedido mediante una experiencia sencilla para ordenar y recoger en la cafetería del campus.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1D696-06A6-4A51-8715-E8959A1F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B352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B3526"/>
                </a:solidFill>
                <a:latin typeface="Arial"/>
                <a:ea typeface="Arial"/>
                <a:cs typeface="Arial"/>
              </a:rPr>
              <a:t>El pedido se genera dentro del campus y la cafetería controla el avance hasta la entrega.</a:t>
            </a:r>
          </a:p>
        </p:txBody>
      </p:sp>
    </p:spTree>
    <p:extLst>
      <p:ext uri="{BB962C8B-B14F-4D97-AF65-F5344CB8AC3E}">
        <p14:creationId xmlns:p14="http://schemas.microsoft.com/office/powerpoint/2010/main" val="11399832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157F88-4796-4491-A5B1-50BE00A3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Una solución con dos experiencias conectadas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1A2E1-F708-4A12-84AB-812D64B5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5B352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3526"/>
                </a:solidFill>
                <a:latin typeface="Arial"/>
                <a:ea typeface="Arial"/>
                <a:cs typeface="Arial"/>
              </a:rPr>
              <a:t>2:00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C21C1-C73A-4E7D-B0E3-6B99D364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50e07da964658"/>
          <a:srcRect xmlns:a="http://schemas.openxmlformats.org/drawingml/2006/main" l="0" t="21700" r="0" b="217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162050"/>
            <a:ext cx="5810250" cy="1952625"/>
          </a:xfrm>
          <a:prstGeom xmlns:a="http://schemas.openxmlformats.org/drawingml/2006/main" prst="roundRect">
            <a:avLst>
              <a:gd name="adj" fmla="val 10732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ebcae08d8741cc"/>
          <a:srcRect xmlns:a="http://schemas.openxmlformats.org/drawingml/2006/main" l="0" t="21700" r="0" b="217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3276600"/>
            <a:ext cx="5810250" cy="1952625"/>
          </a:xfrm>
          <a:prstGeom xmlns:a="http://schemas.openxmlformats.org/drawingml/2006/main" prst="roundRect">
            <a:avLst>
              <a:gd name="adj" fmla="val 1073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03E87-DCF4-4066-99FA-FDA0AF60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9282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A92820"/>
                </a:solidFill>
                <a:latin typeface="Arial"/>
                <a:ea typeface="Arial"/>
                <a:cs typeface="Arial"/>
              </a:rPr>
              <a:t>CLIENTE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36DB6-1FC7-4D64-AD0C-F2F417A0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381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Consulta el menú, personaliza, genera su pedido y revisa el avance desde el celular o la web.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89D16-D0CF-4F3C-AF45-5316936B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1704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1704A"/>
                </a:solidFill>
                <a:latin typeface="Arial"/>
                <a:ea typeface="Arial"/>
                <a:cs typeface="Arial"/>
              </a:rPr>
              <a:t>CAFETERÍA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1DF9C-4D87-4A0A-AFF9-8F135DCF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38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Recibe cada orden, actualiza su estado y mantiene el menú y la operación del día.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1C2FC-6AFD-4776-BC91-39222884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76875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Cliente y cafetería consultan el mismo flujo de servicio.</a:t>
            </a:r>
          </a:p>
        </p:txBody>
      </p:sp>
    </p:spTree>
    <p:extLst>
      <p:ext uri="{BB962C8B-B14F-4D97-AF65-F5344CB8AC3E}">
        <p14:creationId xmlns:p14="http://schemas.microsoft.com/office/powerpoint/2010/main" val="2024561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D03EA-FE42-4A8F-913C-2763E0D5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Demostración: del menú al número de pedido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9D3F3-CA20-4C8C-A0DA-B1AD288D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5B352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3526"/>
                </a:solidFill>
                <a:latin typeface="Arial"/>
                <a:ea typeface="Arial"/>
                <a:cs typeface="Arial"/>
              </a:rPr>
              <a:t>1:30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8B888C-AD26-441B-99B9-D8943BDE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2a057b2994e45"/>
          <a:srcRect xmlns:a="http://schemas.openxmlformats.org/drawingml/2006/main" l="9611" t="0" r="96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143000"/>
            <a:ext cx="5572125" cy="4095750"/>
          </a:xfrm>
          <a:prstGeom xmlns:a="http://schemas.openxmlformats.org/drawingml/2006/main" prst="roundRect">
            <a:avLst>
              <a:gd name="adj" fmla="val 558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4DD2C-C2A7-4474-8AFF-63970CCE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28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A49F2-D0E7-4EE0-901F-59E66736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716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Elegir y personalizar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55606-D35D-4141-A159-58C7168A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28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EB9B8-018A-44CC-9AB2-DD5B35C8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Revisar el carrito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0B89A-3E7A-42B0-85B3-445851B8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28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CE18E-2FE8-4DA6-9F61-FF3BF76E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81375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Validar presencia en campus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5033E-443A-4C60-A9A8-D7423AB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282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8FC98-2DAD-46C2-854B-35AB8389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Recibir el número de pedido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8C31D-2E51-401B-B16D-8BCA910B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76875"/>
            <a:ext cx="5000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La app explica si falta permiso, la ubicación resulta imprecisa o el usuario está fuera del plantel.</a:t>
            </a:r>
          </a:p>
        </p:txBody>
      </p:sp>
    </p:spTree>
    <p:extLst>
      <p:ext uri="{BB962C8B-B14F-4D97-AF65-F5344CB8AC3E}">
        <p14:creationId xmlns:p14="http://schemas.microsoft.com/office/powerpoint/2010/main" val="1607044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BF4966-25DE-4853-A430-E23D0880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Demostración: preparar, avisar y entregar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58B19-A7E3-4185-A285-3DFC343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5B352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3526"/>
                </a:solidFill>
                <a:latin typeface="Arial"/>
                <a:ea typeface="Arial"/>
                <a:cs typeface="Arial"/>
              </a:rPr>
              <a:t>1:30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9D4CB-B4EF-437A-B98A-7724B766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58047f82940e0"/>
          <a:srcRect xmlns:a="http://schemas.openxmlformats.org/drawingml/2006/main" l="227" t="0" r="2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00200"/>
            <a:ext cx="5810250" cy="1409700"/>
          </a:xfrm>
          <a:prstGeom xmlns:a="http://schemas.openxmlformats.org/drawingml/2006/main" prst="roundRect">
            <a:avLst>
              <a:gd name="adj" fmla="val 1216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58966-6AEE-4984-AE58-E8A01BB2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00012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DF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A1F1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A1F14"/>
                </a:solidFill>
                <a:latin typeface="Arial"/>
                <a:ea typeface="Arial"/>
                <a:cs typeface="Arial"/>
              </a:rPr>
              <a:t>Generado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f09d1316444311"/>
          <a:stretch xmlns:a="http://schemas.openxmlformats.org/drawingml/2006/main"/>
        </p:blipFill>
        <p:spPr>
          <a:xfrm xmlns:a="http://schemas.openxmlformats.org/drawingml/2006/main">
            <a:off x="685800" y="3409480"/>
            <a:ext cx="5810250" cy="1353490"/>
          </a:xfrm>
          <a:prstGeom xmlns:a="http://schemas.openxmlformats.org/drawingml/2006/main" prst="roundRect">
            <a:avLst>
              <a:gd name="adj" fmla="val 121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7721F-3380-471B-9BAF-CCA1DB44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1704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1704A"/>
                </a:solidFill>
                <a:latin typeface="Arial"/>
                <a:ea typeface="Arial"/>
                <a:cs typeface="Arial"/>
              </a:rPr>
              <a:t>CAFETERÍA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8E476-ABF5-42D6-8D37-D9EAF488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Recibe la orden y cambia su avance: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58D9A-FA96-45E3-9500-0F327F62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5B3526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B3526"/>
                </a:solidFill>
                <a:latin typeface="Arial"/>
                <a:ea typeface="Arial"/>
                <a:cs typeface="Arial"/>
              </a:rPr>
              <a:t>Generado  ·  En preparación  ·  Listo  ·  Entregado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F7822-0C2C-44C6-8897-9FAFACAA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El historial conserva el número, los artículos, el total y el estado final.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1CA31-FDDC-4DEF-A224-85F9C8F1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525000" cy="647700"/>
          </a:xfrm>
          <a:prstGeom xmlns:a="http://schemas.openxmlformats.org/drawingml/2006/main" prst="roundRect">
            <a:avLst>
              <a:gd name="adj" fmla="val 32353"/>
            </a:avLst>
          </a:prstGeom>
          <a:solidFill xmlns:a="http://schemas.openxmlformats.org/drawingml/2006/main">
            <a:srgbClr val="EEDF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A1F1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A1F14"/>
                </a:solidFill>
                <a:latin typeface="Arial"/>
                <a:ea typeface="Arial"/>
                <a:cs typeface="Arial"/>
              </a:rPr>
              <a:t>Cuando pasa a Listo, el cliente recibe un aviso y puede ir al mostrador.</a:t>
            </a:r>
          </a:p>
        </p:txBody>
      </p:sp>
    </p:spTree>
    <p:extLst>
      <p:ext uri="{BB962C8B-B14F-4D97-AF65-F5344CB8AC3E}">
        <p14:creationId xmlns:p14="http://schemas.microsoft.com/office/powerpoint/2010/main" val="1557247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3A1F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57BA4-E059-4678-9C0A-7C4D04CD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 valor se reparte entre toda la comunidad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67AC8-F525-4E06-A574-B481E62C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1:00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CEB6E4-3D52-47A8-B2D9-4650F403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80AEA-0378-4E63-9A43-3EA1090D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ESTUDIANTE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A43EA-2097-4162-BFB4-F690629F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Menos tiempo en fila</a:t>
            </a:r>
          </a:p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Más claridad del avance</a:t>
            </a:r>
          </a:p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Pedido personalizado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DB6DC-2063-487B-B751-8C3FCE19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76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CAFETERÍA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64702-6C28-47F1-80DD-452405BC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Órdenes legibles</a:t>
            </a:r>
          </a:p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Prioridades visibles</a:t>
            </a:r>
          </a:p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Menú y operación bajo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DEBA4-5751-43BE-821E-03082AEC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EDFC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EEDFCC"/>
                </a:solidFill>
                <a:latin typeface="Arial"/>
                <a:ea typeface="Arial"/>
                <a:cs typeface="Arial"/>
              </a:rPr>
              <a:t>UNIVERSIDAD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827DF9-240F-4304-A1CA-ACF68951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907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Mejor experiencia en campus</a:t>
            </a:r>
          </a:p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Servicio con registro</a:t>
            </a:r>
          </a:p>
          <a:p xmlns:a="http://schemas.openxmlformats.org/drawingml/2006/main">
            <a:pPr algn="l"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para medir y mejorar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F92BD-00AC-4405-B214-2D94ABD1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00625"/>
            <a:ext cx="9144000" cy="7429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EDFC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3A1F14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A1F14"/>
                </a:solidFill>
                <a:latin typeface="Arial"/>
                <a:ea typeface="Arial"/>
                <a:cs typeface="Arial"/>
              </a:rPr>
              <a:t>Un flujo más ordenado mejora el servicio sin cambiar la recolección en mostrador.</a:t>
            </a:r>
          </a:p>
        </p:txBody>
      </p:sp>
    </p:spTree>
    <p:extLst>
      <p:ext uri="{BB962C8B-B14F-4D97-AF65-F5344CB8AC3E}">
        <p14:creationId xmlns:p14="http://schemas.microsoft.com/office/powerpoint/2010/main" val="1761932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DFC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657CF-0DD6-45BC-B543-D1BFB027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923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El siguiente paso es probarlo en operación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EA45B-8C82-4BDB-BB88-D64695D5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0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5B352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B3526"/>
                </a:solidFill>
                <a:latin typeface="Arial"/>
                <a:ea typeface="Arial"/>
                <a:cs typeface="Arial"/>
              </a:rPr>
              <a:t>0:30 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449A1-688B-4DDD-9F92-B53C7BEF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77685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7768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37B1B-84E0-45D8-A461-0043114F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170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1704A"/>
                </a:solidFill>
                <a:latin typeface="Arial"/>
                <a:ea typeface="Arial"/>
                <a:cs typeface="Arial"/>
              </a:rPr>
              <a:t>HOY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78E77-476A-485D-92D0-7D00056C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381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11712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211712"/>
                </a:solidFill>
                <a:latin typeface="Arial"/>
                <a:ea typeface="Arial"/>
                <a:cs typeface="Arial"/>
              </a:rPr>
              <a:t>MVP funcional con pedido, seguimiento, operación de cafetería, validación dentro del campus y aviso de pedido listo.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D0C8D-4342-4F17-B22F-9AE2C20F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92820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A92820"/>
                </a:solidFill>
                <a:latin typeface="Arial"/>
                <a:ea typeface="Arial"/>
                <a:cs typeface="Arial"/>
              </a:rPr>
              <a:t>SIGUIENTE PASO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7AC0A-E969-43D1-AA72-05358FA2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A1F14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3A1F14"/>
                </a:solidFill>
                <a:latin typeface="Arial"/>
                <a:ea typeface="Arial"/>
                <a:cs typeface="Arial"/>
              </a:rPr>
              <a:t>Probar la app durante 15 días en horarios pico y medir tiempo de espera, pedidos completados y comentarios de usuarios.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2B22A-636B-462F-ACF9-811C2A79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53000"/>
            <a:ext cx="4000500" cy="876300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3A1F1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498076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2026-09-25T00:00:08.6250000Z</dcterms:created>
  <dcterms:modified xsi:type="dcterms:W3CDTF">2026-09-25T00:00:08.6250000Z</dcterms:modified>
</coreProperties>
</file>